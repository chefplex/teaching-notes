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5143500" cx="9144000"/>
  <p:notesSz cx="6858000" cy="9144000"/>
  <p:embeddedFontLst>
    <p:embeddedFont>
      <p:font typeface="Playfair Display"/>
      <p:regular r:id="rId25"/>
      <p:bold r:id="rId26"/>
      <p:italic r:id="rId27"/>
      <p:boldItalic r:id="rId28"/>
    </p:embeddedFont>
    <p:embeddedFont>
      <p:font typeface="Garamond"/>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PlayfairDisplay-bold.fntdata"/><Relationship Id="rId25" Type="http://schemas.openxmlformats.org/officeDocument/2006/relationships/font" Target="fonts/PlayfairDisplay-regular.fntdata"/><Relationship Id="rId28" Type="http://schemas.openxmlformats.org/officeDocument/2006/relationships/font" Target="fonts/PlayfairDisplay-boldItalic.fntdata"/><Relationship Id="rId27" Type="http://schemas.openxmlformats.org/officeDocument/2006/relationships/font" Target="fonts/PlayfairDisplay-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Garamond-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Garamond-italic.fntdata"/><Relationship Id="rId30" Type="http://schemas.openxmlformats.org/officeDocument/2006/relationships/font" Target="fonts/Garamond-bold.fntdata"/><Relationship Id="rId11" Type="http://schemas.openxmlformats.org/officeDocument/2006/relationships/slide" Target="slides/slide6.xml"/><Relationship Id="rId10" Type="http://schemas.openxmlformats.org/officeDocument/2006/relationships/slide" Target="slides/slide5.xml"/><Relationship Id="rId32" Type="http://schemas.openxmlformats.org/officeDocument/2006/relationships/font" Target="fonts/Garamond-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n.wikipedia.org/wiki/Louis_Pasteur#cite_note-Geison1995-12"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b2cbf84374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b2cbf84374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Here's to the unsung hero who made it possible to enjoy a glass of wine without playing bacterial roulette with your intestines. Ladies and gentlemen, grab your glasses and raise them high to Louis Pasteur—the man who looked at France's spoiling wine problem and said, "Hold my petri dish."</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t>“Wine is the most healthful and most hygienic of beverages.”</a:t>
            </a:r>
            <a:endParaRPr/>
          </a:p>
          <a:p>
            <a:pPr indent="0" lvl="0" marL="0" rtl="0" algn="l">
              <a:spcBef>
                <a:spcPts val="0"/>
              </a:spcBef>
              <a:spcAft>
                <a:spcPts val="0"/>
              </a:spcAft>
              <a:buNone/>
            </a:pPr>
            <a:r>
              <a:rPr lang="en"/>
              <a:t>― Louis Pasteur 1876</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Before him? Every sip was basically a dare. After him? You could actually trust that bottle you bought wouldn't turn into vinegar before Tuesday.</a:t>
            </a:r>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b2cbf84374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b2cbf8437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lang="en">
                <a:solidFill>
                  <a:schemeClr val="dk1"/>
                </a:solidFill>
              </a:rPr>
              <a:t>Back in the 1800s, France has a real problem: wine and beer are spoiling, exports are getting wrecked, reputations are getting wrecked, and everybody’s losing money. This story starts with </a:t>
            </a:r>
            <a:r>
              <a:rPr i="1" lang="en">
                <a:solidFill>
                  <a:schemeClr val="dk1"/>
                </a:solidFill>
              </a:rPr>
              <a:t>wine and beer</a:t>
            </a:r>
            <a:r>
              <a:rPr lang="en">
                <a:solidFill>
                  <a:schemeClr val="dk1"/>
                </a:solidFill>
              </a:rPr>
              <a:t>—milk becomes the superstar later when people realize, ‘Oh wait… this same trick could make </a:t>
            </a:r>
            <a:r>
              <a:rPr i="1" lang="en">
                <a:solidFill>
                  <a:schemeClr val="dk1"/>
                </a:solidFill>
              </a:rPr>
              <a:t>everything</a:t>
            </a:r>
            <a:r>
              <a:rPr lang="en">
                <a:solidFill>
                  <a:schemeClr val="dk1"/>
                </a:solidFill>
              </a:rPr>
              <a:t> safer</a:t>
            </a:r>
            <a:endParaRPr sz="1200">
              <a:solidFill>
                <a:schemeClr val="dk1"/>
              </a:solidFill>
              <a:latin typeface="Calibri"/>
              <a:ea typeface="Calibri"/>
              <a:cs typeface="Calibri"/>
              <a:sym typeface="Calibri"/>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t>🍷 Wine Woes</a:t>
            </a:r>
            <a:endParaRPr/>
          </a:p>
          <a:p>
            <a:pPr indent="0" lvl="0" marL="0" rtl="0" algn="l">
              <a:spcBef>
                <a:spcPts val="0"/>
              </a:spcBef>
              <a:spcAft>
                <a:spcPts val="0"/>
              </a:spcAft>
              <a:buClr>
                <a:schemeClr val="dk1"/>
              </a:buClr>
              <a:buSzPts val="1100"/>
              <a:buFont typeface="Arial"/>
              <a:buNone/>
            </a:pPr>
            <a:r>
              <a:rPr lang="en"/>
              <a:t>Wine spoiled faster than a frat party keg left in the sun. French winemakers were losing their minds—and their money.</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b2cbf84374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b2cbf84374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Pasteur uttered his oft-quoted remark: "dans les champs de l'observation, le hasard ne favorise que les esprits préparés" ("In the field of observation, chance favors only the prepared mind").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b786e6808f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b786e6808f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i="1" lang="en">
                <a:solidFill>
                  <a:schemeClr val="dk1"/>
                </a:solidFill>
              </a:rPr>
              <a:t>Previously … </a:t>
            </a:r>
            <a:r>
              <a:rPr b="1" i="1" lang="en">
                <a:solidFill>
                  <a:schemeClr val="dk1"/>
                </a:solidFill>
              </a:rPr>
              <a:t>Jöns Jacob Berzelius and Justus von Liebig had proposed the theory that fermentation was caused by decomposition. </a:t>
            </a:r>
            <a:endParaRPr b="1" i="1">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a:solidFill>
                  <a:schemeClr val="dk1"/>
                </a:solidFill>
              </a:rPr>
              <a:t>Pasteur demonstrated that this theory was incorrect, and that yeast was responsible for fermentation to produce alcohol from sugar. He also demonstrated that, when a different microorganism contaminated the wine, lactic acid was produced, making the wine sour.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Pasteur was initially motivated to investigate fermentation a decade earlier while working at Lille. In 1856 a local wine manufacturer, M. Bigot, whose son was one of Pasteur's students, sought for his advice on the problems of making beetroot alcohol and souring.</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Pasteur began his research in the topic by repeating and confirming works of Theodor Schwann, who demonstrated a decade earlier that yeast were alive.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According to his son-in-law, René Vallery-Radot, in August 1857 Pasteur sent a paper about lactic acid fermentation to the Société des Sciences de Lille..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A memoire was subsequently published on 30 November 1857, he developed his ideas stating that: "I intend to establish that, just as there is an alcoholic ferment, the yeast of beer, which is found everywhere that sugar is </a:t>
            </a:r>
            <a:r>
              <a:rPr b="1" lang="en">
                <a:solidFill>
                  <a:schemeClr val="dk1"/>
                </a:solidFill>
              </a:rPr>
              <a:t>fermented </a:t>
            </a:r>
            <a:r>
              <a:rPr lang="en">
                <a:solidFill>
                  <a:schemeClr val="dk1"/>
                </a:solidFill>
              </a:rPr>
              <a:t>into alcohol and carbonic acid, so also there is a particular ferment, a lactic yeast, always present when sugar becomes lactic acid."</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This memoir on alcoholic fermentation was published in full form in 1858.</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Additionally,</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In 1861, Pasteur observed that less sugar fermented per part of yeast when the yeast was exposed to air.</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The lower rate of fermentation aerobically became known as the Pasteur effect. (aerobic vs anaerobic)</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In 1866, Pasteur published Études sur le Vin, about the diseases of wine, and he published Études sur la Bière in 1876, concerning the diseases of beer</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b786e6808f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b786e6808f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Louis Pasteur was commissioned to study wine by Emperor Napoleon III in 1863.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The emperor's commission was prompted by a crisis in the French wine industry, where "diseases" (unwanted bacterial fermentations) were causing wine to sour or turn to vinegar, this threatenied France's flagship export and trade agreements with England.  An 1860 trade deal with Britain increased export volume, but much of the wine arrived spoiled, endangering the treaty and France's commercial standing.</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a:solidFill>
                  <a:schemeClr val="dk1"/>
                </a:solidFill>
              </a:rPr>
              <a: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The commission was suggested to the Emperor by his aide-de-camp, Ildephonse Favé, later known for his book Nos Revers about why France lost the Franco-Prussian War in 1870-71.</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b2cbf8437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b2cbf8437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Imagine telling people in the 1860s that tiny invisible creatures they couldn't see were making them sick. They thought he was nuts. Turns out, he was just several decades ahead of everyone else—and also maybe a little nuts, but in a productive way.</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solidFill>
                  <a:schemeClr val="dk1"/>
                </a:solidFill>
              </a:rPr>
              <a:t>=== What is going on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Acetic Acid Bacteria (AAB), especially genera like Acetobacter, which convert ethanol into acetic acid (vinegar), and Lactic Acid Bacteria (LAB), leading to sour, vinegary flavors and aromas. Pasteur identified these unwanted bacteria, differentiating them from beneficial yeast, by showing they caused the "disease" of souring and that gentle heating (pasteurization) could kill them, preserving the wine's flavor</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b786e6808f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b786e6808f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Why Pasteurize?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Stabilizes wine: Stops unwanted microbial activity, making it shelf-stable.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Prevents spoilage: Eliminates bacteria and yeasts that cause sourness or unwanted bubbles. </a:t>
            </a:r>
            <a:endParaRPr>
              <a:solidFill>
                <a:schemeClr val="dk1"/>
              </a:solidFill>
            </a:endParaRPr>
          </a:p>
          <a:p>
            <a:pPr indent="0" lvl="0" marL="0" rtl="0" algn="l">
              <a:spcBef>
                <a:spcPts val="0"/>
              </a:spcBef>
              <a:spcAft>
                <a:spcPts val="0"/>
              </a:spcAft>
              <a:buNone/>
            </a:pPr>
            <a:r>
              <a:rPr lang="en">
                <a:solidFill>
                  <a:schemeClr val="dk1"/>
                </a:solidFill>
              </a:rPr>
              <a:t>Protects against oxidation: Reduces risks of microbial spoilage and oxidation</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People heated stuff before. Pasteur’s real win was explaining what was happening: spoilage wasn’t mysterious bad vibes—it was </a:t>
            </a:r>
            <a:r>
              <a:rPr i="1" lang="en">
                <a:solidFill>
                  <a:schemeClr val="dk1"/>
                </a:solidFill>
              </a:rPr>
              <a:t>microorganisms</a:t>
            </a:r>
            <a:r>
              <a:rPr lang="en">
                <a:solidFill>
                  <a:schemeClr val="dk1"/>
                </a:solidFill>
              </a:rPr>
              <a:t> causing specific changes. Once you have that cause-and-effect, industry can standardize it: time + temperature = consistent results</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b786e6808f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b786e6808f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Anywhere from secs to minutes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Pasteurizing wine uses heat to kill spoilage microbes (yeasts, bacteria) and stabilize the drink, preventing re-fermentation and off-flavors, typically by heating the liquid or bottled wine in a hot water bath (like 140-165°F/60-74°C) for short periods (seconds to minutes) before rapidly cooling to preserve flavor, though it can slightly soften the profile compared to unheated wine. Common methods involve sous-vide for bottles or immersion circulators in a water bath, ensuring the wine reaches the target temperature for the correct duration.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Beer pasteurization temperatures vary by method, with flash pasteurization hitting around 160-162°F (71-72°C) for just 15-30 seconds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Milk pasteurization uses different temperatures and times, most commonly High-Temperature Short-Time (HTST) at 161°F (72°C) for 15 seconds, or the Low-Temperature Long-Time (LTLT) method at 145°F (63°C) for 30 minutes, both effectively killing harmful bacteria while preserving flavor and nutrients for safe</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b2cbf84374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b2cbf84374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Anywhere from secs to minutes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 1866, Pasteur published Études sur le Vin, about the diseases of wine, and he published Études sur la Bière in 1876, concerning the diseases of beer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Pasteurizing wine uses heat to kill spoilage microbes (yeasts, bacteria) and stabilize the drink, preventing re-fermentation and off-flavors, typically by heating the liquid or bottled wine in a hot water bath (like 140-165°F/60-74°C) for short periods (seconds to minutes) before rapidly cooling to preserve flavor, though it can slightly soften the profile compared to unheated wine. Common methods involve sous-vide for bottles or immersion circulators in a water bath, ensuring the wine reaches the target temperature for the correct duration.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Beer pasteurization temperatures vary by method, with flash pasteurization hitting around 160-162°F (71-72°C) for just 15-30 seconds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Milk pasteurization uses different temperatures and times, most commonly High-Temperature Short-Time (HTST) at 161°F (72°C) for 15 seconds, or the Low-Temperature Long-Time (LTLT) method at 145°F (63°C) for 30 minutes, both effectively killing harmful bacteria while preserving flavor and nutrients for safe</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b786e6808f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b786e6808f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Instead of throwing you ‘bar-certified statistics,’ here’s the real takeaway: public health agencies treat pasteurization as one of the biggest safety moves in food history—especially for milk. Raw milk still shows up in outbreaks because pasteurization is doing the unglamorous work of keeping you from meeting the porcelain gods.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90% - Drop in Foodborne Illness - Deaths from contaminated milk and beverages plummeted after widespread pasteurization adoption.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10X - Trade Explosion - </a:t>
            </a:r>
            <a:r>
              <a:rPr lang="en">
                <a:solidFill>
                  <a:schemeClr val="dk1"/>
                </a:solidFill>
              </a:rPr>
              <a:t>Global food trade increased dramatically when products could survive long journeys without spoiling.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100% - Brunch Success Rate - Cereal + milk became a viable breakfast option. The morning routine was forever changed.</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b786e6808f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b786e6808f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Okay, the classic tale: he goes on vacation, comes back, uses an old weakened culture, chickens don’t die, boom—immunity. It’s the ‘science by procrastination’ fairy tale.”</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Then the patched truth beat:</a:t>
            </a:r>
            <a:endParaRPr>
              <a:solidFill>
                <a:schemeClr val="dk1"/>
              </a:solidFill>
            </a:endParaRPr>
          </a:p>
          <a:p>
            <a:pPr indent="0" lvl="0" marL="0" rtl="0" algn="l">
              <a:spcBef>
                <a:spcPts val="0"/>
              </a:spcBef>
              <a:spcAft>
                <a:spcPts val="0"/>
              </a:spcAft>
              <a:buClr>
                <a:schemeClr val="dk1"/>
              </a:buClr>
              <a:buSzPts val="1100"/>
              <a:buFont typeface="Arial"/>
              <a:buNone/>
            </a:pPr>
            <a:br>
              <a:rPr lang="en">
                <a:solidFill>
                  <a:schemeClr val="dk1"/>
                </a:solidFill>
              </a:rPr>
            </a:br>
            <a:r>
              <a:rPr lang="en">
                <a:solidFill>
                  <a:schemeClr val="dk1"/>
                </a:solidFill>
              </a:rPr>
              <a:t> But historians argue that the ‘vacation miracle’ story got polished over time—Pasteur’s vaccine work was real, but some of the storytelling is… let’s say ‘optimized for marketing’</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As documented later by Pasteur in his notebook in March 1880, in October 1879, being delayed in returning to the laboratory due to his daughter’s wedding and ill health, he instructed Roux to start a new chicken cholera culture using bacteria from a culture that had sat since July.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The two chickens inoculated with this new culture showed some symptoms of infection, but instead of the infections being fatal, as they usually were, the chickens recovered completely.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Louis Pasteur developed the first successful anthrax vaccine in 1881, using an attenuated (weakened) form of the bacteria, famously demonstrated in a public experiment where vaccinated sheep survived a lethal anthrax challenge while unvaccinated ones died, proving the concept of vaccination and leading to its widespread use in livestock, though later research suggests competitor Toussaint may have first created a similar vaccine. Pasteur's method involved cultivating Bacillus anthracis at a higher temperature (43°C) or with oxygen, reducing its virulence, a significant step in immunology</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sz="1200">
                <a:solidFill>
                  <a:schemeClr val="dk1"/>
                </a:solidFill>
                <a:highlight>
                  <a:schemeClr val="lt2"/>
                </a:highlight>
              </a:rPr>
              <a:t>Louis Pasteur developed the first rabies vaccine, a groundbreaking achievement in 1885 when he successfully treated young Joseph Meister, bitten by a rabid dog, using a weakened form of the virus derived from dried, infected rabbit spinal cords. This marked the beginning of modern immunization, as Pasteur's method involved attenuating the virus by passing it through rabbits and drying their nervous tissue, creating a less potent but still protective vaccine. The treatment, though risky, proved life-saving and established a new approach to preventing infectious diseases</a:t>
            </a:r>
            <a:endParaRPr sz="1200">
              <a:solidFill>
                <a:schemeClr val="dk1"/>
              </a:solidFill>
              <a:highlight>
                <a:schemeClr val="lt2"/>
              </a:highlight>
            </a:endParaRPr>
          </a:p>
          <a:p>
            <a:pPr indent="0" lvl="0" marL="0" rtl="0" algn="l">
              <a:spcBef>
                <a:spcPts val="0"/>
              </a:spcBef>
              <a:spcAft>
                <a:spcPts val="0"/>
              </a:spcAft>
              <a:buClr>
                <a:schemeClr val="dk1"/>
              </a:buClr>
              <a:buSzPts val="1100"/>
              <a:buFont typeface="Arial"/>
              <a:buNone/>
            </a:pPr>
            <a:r>
              <a:t/>
            </a:r>
            <a:endParaRPr sz="1200">
              <a:solidFill>
                <a:schemeClr val="dk1"/>
              </a:solidFill>
              <a:highlight>
                <a:schemeClr val="lt2"/>
              </a:highlight>
            </a:endParaRPr>
          </a:p>
          <a:p>
            <a:pPr indent="0" lvl="0" marL="0" rtl="0" algn="l">
              <a:spcBef>
                <a:spcPts val="0"/>
              </a:spcBef>
              <a:spcAft>
                <a:spcPts val="0"/>
              </a:spcAft>
              <a:buClr>
                <a:schemeClr val="dk1"/>
              </a:buClr>
              <a:buSzPts val="1100"/>
              <a:buFont typeface="Arial"/>
              <a:buNone/>
            </a:pPr>
            <a:r>
              <a:rPr lang="en" sz="1200">
                <a:solidFill>
                  <a:schemeClr val="dk1"/>
                </a:solidFill>
                <a:highlight>
                  <a:schemeClr val="lt2"/>
                </a:highlight>
              </a:rPr>
              <a:t>First Human Trial: In July 1885, he administered the vaccine to 9-year-old Joseph Meister, who was severely bitten, saving the boy's life and proving the vaccine's efficacy.</a:t>
            </a:r>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b2cbf84374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b2cbf84374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Here’s where it gets fun: Pasteur the scientist… and Pasteur the legend. He was brilliant, but also very aware of reputation, credit, and legacy. The historical record paints a guy who could be intense with rivals and very eager to control the story.</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Font typeface="Arial"/>
              <a:buNone/>
            </a:pPr>
            <a:r>
              <a:rPr lang="en">
                <a:solidFill>
                  <a:schemeClr val="dk1"/>
                </a:solidFill>
              </a:rPr>
              <a:t>He’s also described as ruthless with rivals</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b786e6808f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b786e6808f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Here’s where it gets fun: Pasteur the scientist… and Pasteur the legend. He was brilliant, but also very aware of reputation, credit, and legacy. The historical record paints a guy who could be intense with rivals and very eager to control the story.</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Font typeface="Arial"/>
              <a:buNone/>
            </a:pPr>
            <a:r>
              <a:rPr lang="en">
                <a:solidFill>
                  <a:schemeClr val="dk1"/>
                </a:solidFill>
              </a:rPr>
              <a:t>He’s also described as ruthless with rivals</a:t>
            </a:r>
            <a:endParaRPr>
              <a:solidFill>
                <a:schemeClr val="dk1"/>
              </a:solidFill>
            </a:endParaRPr>
          </a:p>
          <a:p>
            <a:pPr indent="0" lvl="0" marL="0" rtl="0" algn="l">
              <a:spcBef>
                <a:spcPts val="0"/>
              </a:spcBef>
              <a:spcAft>
                <a:spcPts val="0"/>
              </a:spcAft>
              <a:buClr>
                <a:schemeClr val="dk1"/>
              </a:buClr>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Key examples include: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b="1" lang="en"/>
              <a:t>Searching</a:t>
            </a:r>
            <a:endParaRPr b="1"/>
          </a:p>
          <a:p>
            <a:pPr indent="0" lvl="0" marL="0" rtl="0" algn="l">
              <a:lnSpc>
                <a:spcPct val="115000"/>
              </a:lnSpc>
              <a:spcBef>
                <a:spcPts val="0"/>
              </a:spcBef>
              <a:spcAft>
                <a:spcPts val="0"/>
              </a:spcAft>
              <a:buNone/>
            </a:pPr>
            <a:r>
              <a:rPr lang="en"/>
              <a:t>Louis Pasteur was a fiercely competitive and often authoritarian figure whose desire for scientific dominance led to public feuds, the suppression of colleagues' work, and occasional deception.</a:t>
            </a:r>
            <a:endParaRPr/>
          </a:p>
          <a:p>
            <a:pPr indent="0" lvl="0" marL="0" rtl="0" algn="l">
              <a:lnSpc>
                <a:spcPct val="115000"/>
              </a:lnSpc>
              <a:spcBef>
                <a:spcPts val="0"/>
              </a:spcBef>
              <a:spcAft>
                <a:spcPts val="0"/>
              </a:spcAft>
              <a:buNone/>
            </a:pPr>
            <a:r>
              <a:rPr lang="en"/>
              <a:t> </a:t>
            </a:r>
            <a:endParaRPr/>
          </a:p>
          <a:p>
            <a:pPr indent="0" lvl="0" marL="0" rtl="0" algn="l">
              <a:lnSpc>
                <a:spcPct val="115000"/>
              </a:lnSpc>
              <a:spcBef>
                <a:spcPts val="0"/>
              </a:spcBef>
              <a:spcAft>
                <a:spcPts val="0"/>
              </a:spcAft>
              <a:buNone/>
            </a:pPr>
            <a:r>
              <a:rPr lang="en"/>
              <a:t>Examples of his ruthless behavior include:</a:t>
            </a:r>
            <a:endParaRPr/>
          </a:p>
          <a:p>
            <a:pPr indent="-298450" lvl="0" marL="457200" rtl="0" algn="l">
              <a:lnSpc>
                <a:spcPct val="115000"/>
              </a:lnSpc>
              <a:spcBef>
                <a:spcPts val="1200"/>
              </a:spcBef>
              <a:spcAft>
                <a:spcPts val="0"/>
              </a:spcAft>
              <a:buSzPts val="1100"/>
              <a:buChar char="●"/>
            </a:pPr>
            <a:r>
              <a:rPr b="1" lang="en"/>
              <a:t>The Anthrax Vaccine Deception:</a:t>
            </a:r>
            <a:r>
              <a:rPr lang="en"/>
              <a:t> In 1881, Pasteur publicly triumphed in a trial at Pouilly-le-Fort by vaccinating sheep against anthrax. He claimed the vaccine was made using his "oxygen attenuation" method. However, his private notebooks later revealed he secretly used a chemical inactivation method developed by his rival, </a:t>
            </a:r>
            <a:r>
              <a:rPr b="1" lang="en"/>
              <a:t>Jean-Joseph Henri Toussaint</a:t>
            </a:r>
            <a:r>
              <a:rPr lang="en"/>
              <a:t>, whom he had previously publicly attacked. Toussaint later suffered a nervous breakdown and died.</a:t>
            </a:r>
            <a:endParaRPr/>
          </a:p>
          <a:p>
            <a:pPr indent="-298450" lvl="0" marL="457200" rtl="0" algn="l">
              <a:lnSpc>
                <a:spcPct val="115000"/>
              </a:lnSpc>
              <a:spcBef>
                <a:spcPts val="0"/>
              </a:spcBef>
              <a:spcAft>
                <a:spcPts val="0"/>
              </a:spcAft>
              <a:buSzPts val="1100"/>
              <a:buChar char="●"/>
            </a:pPr>
            <a:r>
              <a:rPr b="1" lang="en"/>
              <a:t>Bitter Rivalry with Robert Koch:</a:t>
            </a:r>
            <a:r>
              <a:rPr lang="en"/>
              <a:t> Pasteur engaged in a lifelong, hostile competition with German scientist Robert Koch. This was fueled by both scientific disagreement and intense nationalism following the Franco-Prussian War. Pasteur frequently dismissed Koch's work in public, sometimes relegating major German discoveries to mere footnotes while calling them "remarkable" only when it served his own narrative.</a:t>
            </a:r>
            <a:endParaRPr/>
          </a:p>
          <a:p>
            <a:pPr indent="-298450" lvl="0" marL="457200" rtl="0" algn="l">
              <a:lnSpc>
                <a:spcPct val="115000"/>
              </a:lnSpc>
              <a:spcBef>
                <a:spcPts val="0"/>
              </a:spcBef>
              <a:spcAft>
                <a:spcPts val="0"/>
              </a:spcAft>
              <a:buSzPts val="1100"/>
              <a:buChar char="●"/>
            </a:pPr>
            <a:r>
              <a:rPr b="1" lang="en"/>
              <a:t>Treatment of Assistants:</a:t>
            </a:r>
            <a:r>
              <a:rPr lang="en"/>
              <a:t> Pasteur was known as an authoritarian leader who treated even his most talented assistants as mere "toilers in the Pastorian vineyard". He had a series of bitter conflicts with his close collaborator, </a:t>
            </a:r>
            <a:r>
              <a:rPr b="1" lang="en"/>
              <a:t>Emile Roux</a:t>
            </a:r>
            <a:r>
              <a:rPr lang="en"/>
              <a:t>, specifically over the ethics of testing the rabies vaccine on humans before it was fully proven in animals.</a:t>
            </a:r>
            <a:endParaRPr/>
          </a:p>
          <a:p>
            <a:pPr indent="-298450" lvl="0" marL="457200" rtl="0" algn="l">
              <a:lnSpc>
                <a:spcPct val="115000"/>
              </a:lnSpc>
              <a:spcBef>
                <a:spcPts val="0"/>
              </a:spcBef>
              <a:spcAft>
                <a:spcPts val="0"/>
              </a:spcAft>
              <a:buSzPts val="1100"/>
              <a:buChar char="●"/>
            </a:pPr>
            <a:r>
              <a:rPr b="1" lang="en"/>
              <a:t>Hostility Toward Dissenters:</a:t>
            </a:r>
            <a:r>
              <a:rPr lang="en"/>
              <a:t> When Dr. Victor Feltz observed bacteria in patients with puerperal fever, Pasteur denied the observation. To "prove" Feltz wrong, Pasteur injected guinea pigs with the patient's blood and others with anthrax, then sent the dying animals to Feltz to force him to concede his diagnosis was incorrect.</a:t>
            </a:r>
            <a:endParaRPr/>
          </a:p>
          <a:p>
            <a:pPr indent="-298450" lvl="0" marL="457200" rtl="0" algn="l">
              <a:lnSpc>
                <a:spcPct val="115000"/>
              </a:lnSpc>
              <a:spcBef>
                <a:spcPts val="0"/>
              </a:spcBef>
              <a:spcAft>
                <a:spcPts val="0"/>
              </a:spcAft>
              <a:buSzPts val="1100"/>
              <a:buChar char="●"/>
            </a:pPr>
            <a:r>
              <a:rPr b="1" lang="en"/>
              <a:t>Authoritarian Rule at École Normale:</a:t>
            </a:r>
            <a:r>
              <a:rPr lang="en"/>
              <a:t> As director of scientific studies, Pasteur was so rigid that he provoked two serious student revolts. During the "bean revolt," he forced students to eat a mutton stew they had rejected, and on another occasion, he threatened to expel anyone caught smoking, leading to the resignation of 73 out of 80 students. </a:t>
            </a:r>
            <a:endParaRPr/>
          </a:p>
          <a:p>
            <a:pPr indent="0" lvl="0" marL="0" rtl="0" algn="l">
              <a:spcBef>
                <a:spcPts val="1200"/>
              </a:spcBef>
              <a:spcAft>
                <a:spcPts val="0"/>
              </a:spcAft>
              <a:buClr>
                <a:schemeClr val="dk1"/>
              </a:buClr>
              <a:buFont typeface="Arial"/>
              <a:buNone/>
            </a:pPr>
            <a:r>
              <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b2cbf84374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b2cbf84374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Raise Your Glass to Louis Pasteur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Heating Things Up Since 1865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To the man who made drinking safer, brunch possible, and vaccines by accident. To the scientist who was brilliant, petty, revolutionary, and insufferable—sometimes all at once.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He wasn't trying to save humanity. He was trying to save wine. But in the process, he revolutionized medicine, transformed food safety, and enabled global commerce.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Not bad for a French chemist with a microscope and an attitude problem.</a:t>
            </a:r>
            <a:endParaRPr/>
          </a:p>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b786e6808f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b786e6808f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Okay, the classic tale: he goes on vacation, comes back, uses an old weakened culture, chickens don’t die, boom—immunity. It’s the ‘science by procrastination’ fairy tale.”</a:t>
            </a:r>
            <a:endParaRPr/>
          </a:p>
          <a:p>
            <a:pPr indent="0" lvl="0" marL="0" rtl="0" algn="l">
              <a:spcBef>
                <a:spcPts val="0"/>
              </a:spcBef>
              <a:spcAft>
                <a:spcPts val="0"/>
              </a:spcAft>
              <a:buNone/>
            </a:pPr>
            <a:r>
              <a:rPr lang="en"/>
              <a:t>Then the patched truth beat:</a:t>
            </a:r>
            <a:endParaRPr/>
          </a:p>
          <a:p>
            <a:pPr indent="0" lvl="0" marL="0" rtl="0" algn="l">
              <a:spcBef>
                <a:spcPts val="0"/>
              </a:spcBef>
              <a:spcAft>
                <a:spcPts val="0"/>
              </a:spcAft>
              <a:buNone/>
            </a:pPr>
            <a:br>
              <a:rPr lang="en"/>
            </a:br>
            <a:r>
              <a:rPr lang="en"/>
              <a:t> But historians argue that the ‘vacation miracle’ story got polished over time—Pasteur’s vaccine work was real, but some of the storytelling is… let’s say ‘optimized for marketing’</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t>As documented later by Pasteur in his notebook in March 1880, in October 1879, being delayed in returning to the laboratory due to his daughter’s wedding and ill health, he instructed Roux to start a new chicken cholera culture using bacteria from a culture that had sat since July.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The two chickens inoculated with this new culture showed some symptoms of infection, but instead of the infections being fatal, as they usually were, the chickens recovered completely.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After further incubation of the culture for an additional 8 days, Roux again inoculated the same two chickens.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As was also noted by Pasteur in his notebook in March 1880, and contrary to some accounts, this time the chickens died. Thus, although the attenuated bacteria did not provide immunity, these experiments provided important clues as to how bacteria could be artificially attenuated in the laboratory. As a result, upon Pasteur’s return to the laboratory, the focus of the research was directed at creating a vaccine through attenuation.</a:t>
            </a:r>
            <a:endParaRPr/>
          </a:p>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b829b33dd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b829b33dd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Louis Pasteur developed the first successful anthrax vaccine in 1881, using an attenuated (weakened) form of the bacteria, famously demonstrated in a public experiment where vaccinated sheep survived a lethal anthrax challenge while unvaccinated ones died, proving the concept of vaccination and leading to its widespread use in livestock, though later research suggests competitor Toussaint may have first created a similar vaccine. Pasteur's method involved cultivating Bacillus anthracis at a higher temperature (43°C) or with oxygen, reducing its virulence, a significant step in immunology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Background …Pasteur's laboratory found that anthrax bacillus was not easily weakened by culturing in air as it formed spores – unlike chicken cholera bacillus. In early 1881, his laboratory discovered that growing anthrax bacilli at about 42 °C made them unable to produce spores,and he described this method in a speech to the French Academy of Sciences on 28 February.</a:t>
            </a:r>
            <a:endParaRPr baseline="30000"/>
          </a:p>
          <a:p>
            <a:pPr indent="0" lvl="0" marL="0" rtl="0" algn="l">
              <a:spcBef>
                <a:spcPts val="0"/>
              </a:spcBef>
              <a:spcAft>
                <a:spcPts val="0"/>
              </a:spcAft>
              <a:buNone/>
            </a:pPr>
            <a:r>
              <a:t/>
            </a:r>
            <a:endParaRPr baseline="30000"/>
          </a:p>
          <a:p>
            <a:pPr indent="-298450" lvl="0" marL="457200" rtl="0" algn="l">
              <a:spcBef>
                <a:spcPts val="0"/>
              </a:spcBef>
              <a:spcAft>
                <a:spcPts val="0"/>
              </a:spcAft>
              <a:buSzPts val="1100"/>
              <a:buChar char="-"/>
            </a:pPr>
            <a:r>
              <a:rPr lang="en"/>
              <a:t>On 21 March, despite inconsistent results, he announced successful vaccination of sheep. To this news, veterinarian Hippolyte Rossignol proposed that the Société d'agriculture de Melun organize an experiment to test Pasteur's vaccine. Pasteur signed an agreement accepting the challenge on 28 April. Pasteur's assistants, Roux and Chamberland, who were assigned the task of conducting the trial, were concerned about the unreliability of the attenuated vaccine, and therefore Chamberland secretly prepared an alternative vaccine using chemical inactivation.</a:t>
            </a:r>
            <a:endParaRPr baseline="30000"/>
          </a:p>
          <a:p>
            <a:pPr indent="-298450" lvl="0" marL="457200" rtl="0" algn="l">
              <a:spcBef>
                <a:spcPts val="0"/>
              </a:spcBef>
              <a:spcAft>
                <a:spcPts val="0"/>
              </a:spcAft>
              <a:buSzPts val="1100"/>
              <a:buChar char="-"/>
            </a:pPr>
            <a:r>
              <a:rPr lang="en"/>
              <a:t>Without divulging their method of preparing the vaccine to anyone but Pasteur, Roux and Chamberland performed the public experiment on May at Pouilly-le-Fort.</a:t>
            </a:r>
            <a:r>
              <a:rPr baseline="30000" lang="en" u="sng">
                <a:solidFill>
                  <a:schemeClr val="hlink"/>
                </a:solidFill>
                <a:hlinkClick r:id="rId2"/>
              </a:rPr>
              <a:t>[12]</a:t>
            </a:r>
            <a:r>
              <a:rPr lang="en"/>
              <a:t> 58 sheep, 2 goats and 10 cattle were used, half of which were given the vaccine on 5 and 17 May; while the other half was untreated.</a:t>
            </a:r>
            <a:endParaRPr baseline="30000"/>
          </a:p>
          <a:p>
            <a:pPr indent="-298450" lvl="0" marL="457200" rtl="0" algn="l">
              <a:spcBef>
                <a:spcPts val="0"/>
              </a:spcBef>
              <a:spcAft>
                <a:spcPts val="0"/>
              </a:spcAft>
              <a:buSzPts val="1100"/>
              <a:buChar char="-"/>
            </a:pPr>
            <a:r>
              <a:rPr lang="en"/>
              <a:t>On 31 May, Roux and Chamberland next injected the animals with the fresh virulent culture of anthrax bacillus. The official result was observed and analyzed on 2 June in the presence of over 200 spectators, with Pasteur himself in attendance. The results were as Pasteur had bravely predicted: "I hypothesized that the six vaccinated cows would not become very ill, while the four unvaccinated cows would perish or at least become very ill."</a:t>
            </a:r>
            <a:endParaRPr baseline="30000"/>
          </a:p>
          <a:p>
            <a:pPr indent="-298450" lvl="0" marL="457200" rtl="0" algn="l">
              <a:spcBef>
                <a:spcPts val="0"/>
              </a:spcBef>
              <a:spcAft>
                <a:spcPts val="0"/>
              </a:spcAft>
              <a:buSzPts val="1100"/>
              <a:buChar char="-"/>
            </a:pPr>
            <a:r>
              <a:rPr lang="en"/>
              <a:t>However, all vaccinated sheep and goats survived, while unvaccinated ones had died or were dying before the viewers.</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b786e6808f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b786e6808f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highlight>
                  <a:schemeClr val="lt2"/>
                </a:highlight>
              </a:rPr>
              <a:t>Louis Pasteur developed the first rabies vaccine, a groundbreaking achievement in 1885 when he successfully treated young Joseph Meister, bitten by a rabid dog, using a weakened form of the virus derived from dried, infected rabbit spinal cords. This marked the beginning of modern immunization, as Pasteur's method involved attenuating the virus by passing it through rabbits and drying their nervous tissue, creating a less potent but still protective vaccine. The treatment, though risky, proved life-saving and established a new approach to preventing infectious diseases</a:t>
            </a:r>
            <a:endParaRPr sz="1200">
              <a:solidFill>
                <a:schemeClr val="dk1"/>
              </a:solidFill>
              <a:highlight>
                <a:schemeClr val="lt2"/>
              </a:highlight>
            </a:endParaRPr>
          </a:p>
          <a:p>
            <a:pPr indent="0" lvl="0" marL="0" rtl="0" algn="l">
              <a:spcBef>
                <a:spcPts val="0"/>
              </a:spcBef>
              <a:spcAft>
                <a:spcPts val="0"/>
              </a:spcAft>
              <a:buNone/>
            </a:pPr>
            <a:r>
              <a:t/>
            </a:r>
            <a:endParaRPr sz="1200">
              <a:solidFill>
                <a:schemeClr val="dk1"/>
              </a:solidFill>
              <a:highlight>
                <a:schemeClr val="lt2"/>
              </a:highlight>
            </a:endParaRPr>
          </a:p>
          <a:p>
            <a:pPr indent="0" lvl="0" marL="0" rtl="0" algn="l">
              <a:spcBef>
                <a:spcPts val="0"/>
              </a:spcBef>
              <a:spcAft>
                <a:spcPts val="0"/>
              </a:spcAft>
              <a:buNone/>
            </a:pPr>
            <a:r>
              <a:rPr lang="en" sz="1200">
                <a:solidFill>
                  <a:schemeClr val="dk1"/>
                </a:solidFill>
                <a:highlight>
                  <a:schemeClr val="lt2"/>
                </a:highlight>
              </a:rPr>
              <a:t>First Human Trial: In July 1885, he administered the vaccine to 9-year-old Joseph Meister, who was severely bitten, saving the boy's life and proving the vaccine's efficacy.</a:t>
            </a:r>
            <a:endParaRPr sz="1200">
              <a:solidFill>
                <a:schemeClr val="dk1"/>
              </a:solidFill>
              <a:highlight>
                <a:schemeClr val="lt2"/>
              </a:highlight>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b786e6808f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b786e6808f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rPr>
              <a:t>Okay, the classic tale: he goes on vacation, comes back, uses an old weakened culture, chickens don’t die, boom—immunity. It’s the ‘science by procrastination’ fairy tale.”</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Then the patched truth beat:</a:t>
            </a:r>
            <a:br>
              <a:rPr b="1" lang="en">
                <a:solidFill>
                  <a:schemeClr val="dk1"/>
                </a:solidFill>
              </a:rPr>
            </a:br>
            <a:r>
              <a:rPr lang="en">
                <a:solidFill>
                  <a:schemeClr val="dk1"/>
                </a:solidFill>
              </a:rPr>
              <a:t> But historians argue that the ‘vacation miracle’ story got polished over time—Pasteur’s vaccine work was real, but some of the storytelling is… let’s say ‘optimized for marketing’</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rPr lang="en" sz="1200">
                <a:solidFill>
                  <a:schemeClr val="dk1"/>
                </a:solidFill>
                <a:highlight>
                  <a:srgbClr val="FFFFFF"/>
                </a:highlight>
              </a:rPr>
              <a:t>Pasteur's first work on vaccine development was on chicken cholera. He received the bacteria samples (later called Pasteurella multocida after him) from Henry Toussaint.[101] Being unable to conduct the experiments himself due to a stroke in 1868,[102] Pasteur relied heavily on his assistants Emile Roux and Charles Chamberland. The work with chicken cholera was initiated in 1877, and by the next year, Roux was able to maintain a stable culture using broths</a:t>
            </a:r>
            <a:endParaRPr sz="1200">
              <a:solidFill>
                <a:schemeClr val="dk1"/>
              </a:solidFill>
              <a:highlight>
                <a:srgbClr val="FFFFFF"/>
              </a:highlight>
            </a:endParaRPr>
          </a:p>
          <a:p>
            <a:pPr indent="0" lvl="0" marL="0" rtl="0" algn="l">
              <a:lnSpc>
                <a:spcPct val="115000"/>
              </a:lnSpc>
              <a:spcBef>
                <a:spcPts val="1200"/>
              </a:spcBef>
              <a:spcAft>
                <a:spcPts val="0"/>
              </a:spcAft>
              <a:buNone/>
            </a:pPr>
            <a:r>
              <a:rPr lang="en" sz="1200">
                <a:solidFill>
                  <a:schemeClr val="dk1"/>
                </a:solidFill>
                <a:highlight>
                  <a:srgbClr val="FFFFFF"/>
                </a:highlight>
              </a:rPr>
              <a:t>As documented later by </a:t>
            </a:r>
            <a:r>
              <a:rPr lang="en">
                <a:solidFill>
                  <a:schemeClr val="dk1"/>
                </a:solidFill>
              </a:rPr>
              <a:t>Pasteur in his notebook in March 1880,[104][105] in October 1879, being delayed in returning to the laboratory due to his daughter’s wedding and ill health, he instructed Roux to start a new chicken cholera culture using bacteria from a culture that had sat since July. The two chickens inoculated with this new culture showed some symptoms of infection, but instead of the infections being fatal, as they usually were, the chickens recovered completely. After further incubation of the culture for an additional 8 days, Roux again inoculated the same two chickens. As was also noted by Pasteur in his notebook in March 1880, and contrary to some accounts, this time the chickens died. Thus, although the attenuated bacteria did not provide immunity, these experiments provided important clues as to how bacteria could be artificially attenuated in the laboratory. As a result, upon Pasteur’s return to the laboratory, the focus of the research was directed at creating a vaccine through attenuation.</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3000"/>
              <a:buNone/>
              <a:defRPr sz="3000"/>
            </a:lvl1pPr>
            <a:lvl2pPr lvl="1" algn="ctr">
              <a:lnSpc>
                <a:spcPct val="100000"/>
              </a:lnSpc>
              <a:spcBef>
                <a:spcPts val="0"/>
              </a:spcBef>
              <a:spcAft>
                <a:spcPts val="0"/>
              </a:spcAft>
              <a:buSzPts val="2800"/>
              <a:buFont typeface="Playfair Display"/>
              <a:buNone/>
              <a:defRPr sz="2800">
                <a:latin typeface="Playfair Display"/>
                <a:ea typeface="Playfair Display"/>
                <a:cs typeface="Playfair Display"/>
                <a:sym typeface="Playfair Display"/>
              </a:defRPr>
            </a:lvl2pPr>
            <a:lvl3pPr lvl="2" algn="ctr">
              <a:lnSpc>
                <a:spcPct val="100000"/>
              </a:lnSpc>
              <a:spcBef>
                <a:spcPts val="0"/>
              </a:spcBef>
              <a:spcAft>
                <a:spcPts val="0"/>
              </a:spcAft>
              <a:buSzPts val="2800"/>
              <a:buFont typeface="Playfair Display"/>
              <a:buNone/>
              <a:defRPr sz="2800">
                <a:latin typeface="Playfair Display"/>
                <a:ea typeface="Playfair Display"/>
                <a:cs typeface="Playfair Display"/>
                <a:sym typeface="Playfair Display"/>
              </a:defRPr>
            </a:lvl3pPr>
            <a:lvl4pPr lvl="3" algn="ctr">
              <a:lnSpc>
                <a:spcPct val="100000"/>
              </a:lnSpc>
              <a:spcBef>
                <a:spcPts val="0"/>
              </a:spcBef>
              <a:spcAft>
                <a:spcPts val="0"/>
              </a:spcAft>
              <a:buSzPts val="2800"/>
              <a:buFont typeface="Playfair Display"/>
              <a:buNone/>
              <a:defRPr sz="2800">
                <a:latin typeface="Playfair Display"/>
                <a:ea typeface="Playfair Display"/>
                <a:cs typeface="Playfair Display"/>
                <a:sym typeface="Playfair Display"/>
              </a:defRPr>
            </a:lvl4pPr>
            <a:lvl5pPr lvl="4" algn="ctr">
              <a:lnSpc>
                <a:spcPct val="100000"/>
              </a:lnSpc>
              <a:spcBef>
                <a:spcPts val="0"/>
              </a:spcBef>
              <a:spcAft>
                <a:spcPts val="0"/>
              </a:spcAft>
              <a:buSzPts val="2800"/>
              <a:buFont typeface="Playfair Display"/>
              <a:buNone/>
              <a:defRPr sz="2800">
                <a:latin typeface="Playfair Display"/>
                <a:ea typeface="Playfair Display"/>
                <a:cs typeface="Playfair Display"/>
                <a:sym typeface="Playfair Display"/>
              </a:defRPr>
            </a:lvl5pPr>
            <a:lvl6pPr lvl="5" algn="ctr">
              <a:lnSpc>
                <a:spcPct val="100000"/>
              </a:lnSpc>
              <a:spcBef>
                <a:spcPts val="0"/>
              </a:spcBef>
              <a:spcAft>
                <a:spcPts val="0"/>
              </a:spcAft>
              <a:buSzPts val="2800"/>
              <a:buFont typeface="Playfair Display"/>
              <a:buNone/>
              <a:defRPr sz="2800">
                <a:latin typeface="Playfair Display"/>
                <a:ea typeface="Playfair Display"/>
                <a:cs typeface="Playfair Display"/>
                <a:sym typeface="Playfair Display"/>
              </a:defRPr>
            </a:lvl6pPr>
            <a:lvl7pPr lvl="6" algn="ctr">
              <a:lnSpc>
                <a:spcPct val="100000"/>
              </a:lnSpc>
              <a:spcBef>
                <a:spcPts val="0"/>
              </a:spcBef>
              <a:spcAft>
                <a:spcPts val="0"/>
              </a:spcAft>
              <a:buSzPts val="2800"/>
              <a:buFont typeface="Playfair Display"/>
              <a:buNone/>
              <a:defRPr sz="2800">
                <a:latin typeface="Playfair Display"/>
                <a:ea typeface="Playfair Display"/>
                <a:cs typeface="Playfair Display"/>
                <a:sym typeface="Playfair Display"/>
              </a:defRPr>
            </a:lvl7pPr>
            <a:lvl8pPr lvl="7" algn="ctr">
              <a:lnSpc>
                <a:spcPct val="100000"/>
              </a:lnSpc>
              <a:spcBef>
                <a:spcPts val="0"/>
              </a:spcBef>
              <a:spcAft>
                <a:spcPts val="0"/>
              </a:spcAft>
              <a:buSzPts val="2800"/>
              <a:buFont typeface="Playfair Display"/>
              <a:buNone/>
              <a:defRPr sz="2800">
                <a:latin typeface="Playfair Display"/>
                <a:ea typeface="Playfair Display"/>
                <a:cs typeface="Playfair Display"/>
                <a:sym typeface="Playfair Display"/>
              </a:defRPr>
            </a:lvl8pPr>
            <a:lvl9pPr lvl="8" algn="ctr">
              <a:lnSpc>
                <a:spcPct val="100000"/>
              </a:lnSpc>
              <a:spcBef>
                <a:spcPts val="0"/>
              </a:spcBef>
              <a:spcAft>
                <a:spcPts val="0"/>
              </a:spcAft>
              <a:buSzPts val="2800"/>
              <a:buFont typeface="Playfair Display"/>
              <a:buNone/>
              <a:defRPr sz="2800">
                <a:latin typeface="Playfair Display"/>
                <a:ea typeface="Playfair Display"/>
                <a:cs typeface="Playfair Display"/>
                <a:sym typeface="Playfair Display"/>
              </a:defRPr>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atin typeface="Playfair Display"/>
                <a:ea typeface="Playfair Display"/>
                <a:cs typeface="Playfair Display"/>
                <a:sym typeface="Playfair Display"/>
              </a:defRPr>
            </a:lvl1pPr>
            <a:lvl2pPr lvl="1">
              <a:buNone/>
              <a:defRPr>
                <a:latin typeface="Playfair Display"/>
                <a:ea typeface="Playfair Display"/>
                <a:cs typeface="Playfair Display"/>
                <a:sym typeface="Playfair Display"/>
              </a:defRPr>
            </a:lvl2pPr>
            <a:lvl3pPr lvl="2">
              <a:buNone/>
              <a:defRPr>
                <a:latin typeface="Playfair Display"/>
                <a:ea typeface="Playfair Display"/>
                <a:cs typeface="Playfair Display"/>
                <a:sym typeface="Playfair Display"/>
              </a:defRPr>
            </a:lvl3pPr>
            <a:lvl4pPr lvl="3">
              <a:buNone/>
              <a:defRPr>
                <a:latin typeface="Playfair Display"/>
                <a:ea typeface="Playfair Display"/>
                <a:cs typeface="Playfair Display"/>
                <a:sym typeface="Playfair Display"/>
              </a:defRPr>
            </a:lvl4pPr>
            <a:lvl5pPr lvl="4">
              <a:buNone/>
              <a:defRPr>
                <a:latin typeface="Playfair Display"/>
                <a:ea typeface="Playfair Display"/>
                <a:cs typeface="Playfair Display"/>
                <a:sym typeface="Playfair Display"/>
              </a:defRPr>
            </a:lvl5pPr>
            <a:lvl6pPr lvl="5">
              <a:buNone/>
              <a:defRPr>
                <a:latin typeface="Playfair Display"/>
                <a:ea typeface="Playfair Display"/>
                <a:cs typeface="Playfair Display"/>
                <a:sym typeface="Playfair Display"/>
              </a:defRPr>
            </a:lvl6pPr>
            <a:lvl7pPr lvl="6">
              <a:buNone/>
              <a:defRPr>
                <a:latin typeface="Playfair Display"/>
                <a:ea typeface="Playfair Display"/>
                <a:cs typeface="Playfair Display"/>
                <a:sym typeface="Playfair Display"/>
              </a:defRPr>
            </a:lvl7pPr>
            <a:lvl8pPr lvl="7">
              <a:buNone/>
              <a:defRPr>
                <a:latin typeface="Playfair Display"/>
                <a:ea typeface="Playfair Display"/>
                <a:cs typeface="Playfair Display"/>
                <a:sym typeface="Playfair Display"/>
              </a:defRPr>
            </a:lvl8pPr>
            <a:lvl9pPr lvl="8">
              <a:buNone/>
              <a:defRPr>
                <a:latin typeface="Playfair Display"/>
                <a:ea typeface="Playfair Display"/>
                <a:cs typeface="Playfair Display"/>
                <a:sym typeface="Playfair Displ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289900"/>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900"/>
              <a:buNone/>
              <a:defRPr sz="39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419100" lvl="0" marL="457200">
              <a:spcBef>
                <a:spcPts val="0"/>
              </a:spcBef>
              <a:spcAft>
                <a:spcPts val="0"/>
              </a:spcAft>
              <a:buSzPts val="3000"/>
              <a:buChar char="●"/>
              <a:defRPr sz="3000"/>
            </a:lvl1pPr>
            <a:lvl2pPr indent="-419100" lvl="1" marL="914400">
              <a:spcBef>
                <a:spcPts val="0"/>
              </a:spcBef>
              <a:spcAft>
                <a:spcPts val="0"/>
              </a:spcAft>
              <a:buSzPts val="3000"/>
              <a:buChar char="○"/>
              <a:defRPr sz="3000"/>
            </a:lvl2pPr>
            <a:lvl3pPr indent="-419100" lvl="2" marL="1371600">
              <a:spcBef>
                <a:spcPts val="0"/>
              </a:spcBef>
              <a:spcAft>
                <a:spcPts val="0"/>
              </a:spcAft>
              <a:buSzPts val="3000"/>
              <a:buChar char="■"/>
              <a:defRPr sz="3000"/>
            </a:lvl3pPr>
            <a:lvl4pPr indent="-419100" lvl="3" marL="1828800">
              <a:spcBef>
                <a:spcPts val="0"/>
              </a:spcBef>
              <a:spcAft>
                <a:spcPts val="0"/>
              </a:spcAft>
              <a:buSzPts val="3000"/>
              <a:buChar char="●"/>
              <a:defRPr sz="3000"/>
            </a:lvl4pPr>
            <a:lvl5pPr indent="-419100" lvl="4" marL="2286000">
              <a:spcBef>
                <a:spcPts val="0"/>
              </a:spcBef>
              <a:spcAft>
                <a:spcPts val="0"/>
              </a:spcAft>
              <a:buSzPts val="3000"/>
              <a:buChar char="○"/>
              <a:defRPr sz="3000"/>
            </a:lvl5pPr>
            <a:lvl6pPr indent="-419100" lvl="5" marL="2743200">
              <a:spcBef>
                <a:spcPts val="0"/>
              </a:spcBef>
              <a:spcAft>
                <a:spcPts val="0"/>
              </a:spcAft>
              <a:buSzPts val="3000"/>
              <a:buChar char="■"/>
              <a:defRPr sz="3000"/>
            </a:lvl6pPr>
            <a:lvl7pPr indent="-419100" lvl="6" marL="3200400">
              <a:spcBef>
                <a:spcPts val="0"/>
              </a:spcBef>
              <a:spcAft>
                <a:spcPts val="0"/>
              </a:spcAft>
              <a:buSzPts val="3000"/>
              <a:buChar char="●"/>
              <a:defRPr sz="3000"/>
            </a:lvl7pPr>
            <a:lvl8pPr indent="-419100" lvl="7" marL="3657600">
              <a:spcBef>
                <a:spcPts val="0"/>
              </a:spcBef>
              <a:spcAft>
                <a:spcPts val="0"/>
              </a:spcAft>
              <a:buSzPts val="3000"/>
              <a:buChar char="○"/>
              <a:defRPr sz="3000"/>
            </a:lvl8pPr>
            <a:lvl9pPr indent="-419100" lvl="8" marL="4114800">
              <a:spcBef>
                <a:spcPts val="0"/>
              </a:spcBef>
              <a:spcAft>
                <a:spcPts val="0"/>
              </a:spcAft>
              <a:buSzPts val="3000"/>
              <a:buChar char="■"/>
              <a:defRPr sz="3000"/>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55600" lvl="0" marL="457200">
              <a:spcBef>
                <a:spcPts val="0"/>
              </a:spcBef>
              <a:spcAft>
                <a:spcPts val="0"/>
              </a:spcAft>
              <a:buSzPts val="2000"/>
              <a:buChar char="●"/>
              <a:defRPr sz="2000"/>
            </a:lvl1pPr>
            <a:lvl2pPr indent="-355600" lvl="1" marL="914400">
              <a:spcBef>
                <a:spcPts val="0"/>
              </a:spcBef>
              <a:spcAft>
                <a:spcPts val="0"/>
              </a:spcAft>
              <a:buSzPts val="2000"/>
              <a:buChar char="○"/>
              <a:defRPr sz="2000"/>
            </a:lvl2pPr>
            <a:lvl3pPr indent="-355600" lvl="2" marL="1371600">
              <a:spcBef>
                <a:spcPts val="0"/>
              </a:spcBef>
              <a:spcAft>
                <a:spcPts val="0"/>
              </a:spcAft>
              <a:buSzPts val="2000"/>
              <a:buChar char="■"/>
              <a:defRPr sz="2000"/>
            </a:lvl3pPr>
            <a:lvl4pPr indent="-355600" lvl="3" marL="1828800">
              <a:spcBef>
                <a:spcPts val="0"/>
              </a:spcBef>
              <a:spcAft>
                <a:spcPts val="0"/>
              </a:spcAft>
              <a:buSzPts val="2000"/>
              <a:buChar char="●"/>
              <a:defRPr sz="2000"/>
            </a:lvl4pPr>
            <a:lvl5pPr indent="-355600" lvl="4" marL="2286000">
              <a:spcBef>
                <a:spcPts val="0"/>
              </a:spcBef>
              <a:spcAft>
                <a:spcPts val="0"/>
              </a:spcAft>
              <a:buSzPts val="2000"/>
              <a:buChar char="○"/>
              <a:defRPr sz="2000"/>
            </a:lvl5pPr>
            <a:lvl6pPr indent="-355600" lvl="5" marL="2743200">
              <a:spcBef>
                <a:spcPts val="0"/>
              </a:spcBef>
              <a:spcAft>
                <a:spcPts val="0"/>
              </a:spcAft>
              <a:buSzPts val="2000"/>
              <a:buChar char="■"/>
              <a:defRPr sz="2000"/>
            </a:lvl6pPr>
            <a:lvl7pPr indent="-355600" lvl="6" marL="3200400">
              <a:spcBef>
                <a:spcPts val="0"/>
              </a:spcBef>
              <a:spcAft>
                <a:spcPts val="0"/>
              </a:spcAft>
              <a:buSzPts val="2000"/>
              <a:buChar char="●"/>
              <a:defRPr sz="2000"/>
            </a:lvl7pPr>
            <a:lvl8pPr indent="-355600" lvl="7" marL="3657600">
              <a:spcBef>
                <a:spcPts val="0"/>
              </a:spcBef>
              <a:spcAft>
                <a:spcPts val="0"/>
              </a:spcAft>
              <a:buSzPts val="2000"/>
              <a:buChar char="○"/>
              <a:defRPr sz="2000"/>
            </a:lvl8pPr>
            <a:lvl9pPr indent="-355600" lvl="8" marL="4114800">
              <a:spcBef>
                <a:spcPts val="0"/>
              </a:spcBef>
              <a:spcAft>
                <a:spcPts val="0"/>
              </a:spcAft>
              <a:buSzPts val="2000"/>
              <a:buChar char="■"/>
              <a:defRPr sz="20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55600" lvl="0" marL="457200">
              <a:spcBef>
                <a:spcPts val="0"/>
              </a:spcBef>
              <a:spcAft>
                <a:spcPts val="0"/>
              </a:spcAft>
              <a:buSzPts val="2000"/>
              <a:buChar char="●"/>
              <a:defRPr sz="2000"/>
            </a:lvl1pPr>
            <a:lvl2pPr indent="-355600" lvl="1" marL="914400">
              <a:spcBef>
                <a:spcPts val="0"/>
              </a:spcBef>
              <a:spcAft>
                <a:spcPts val="0"/>
              </a:spcAft>
              <a:buSzPts val="2000"/>
              <a:buChar char="○"/>
              <a:defRPr sz="2000"/>
            </a:lvl2pPr>
            <a:lvl3pPr indent="-355600" lvl="2" marL="1371600">
              <a:spcBef>
                <a:spcPts val="0"/>
              </a:spcBef>
              <a:spcAft>
                <a:spcPts val="0"/>
              </a:spcAft>
              <a:buSzPts val="2000"/>
              <a:buChar char="■"/>
              <a:defRPr sz="2000"/>
            </a:lvl3pPr>
            <a:lvl4pPr indent="-355600" lvl="3" marL="1828800">
              <a:spcBef>
                <a:spcPts val="0"/>
              </a:spcBef>
              <a:spcAft>
                <a:spcPts val="0"/>
              </a:spcAft>
              <a:buSzPts val="2000"/>
              <a:buChar char="●"/>
              <a:defRPr sz="2000"/>
            </a:lvl4pPr>
            <a:lvl5pPr indent="-355600" lvl="4" marL="2286000">
              <a:spcBef>
                <a:spcPts val="0"/>
              </a:spcBef>
              <a:spcAft>
                <a:spcPts val="0"/>
              </a:spcAft>
              <a:buSzPts val="2000"/>
              <a:buChar char="○"/>
              <a:defRPr sz="2000"/>
            </a:lvl5pPr>
            <a:lvl6pPr indent="-355600" lvl="5" marL="2743200">
              <a:spcBef>
                <a:spcPts val="0"/>
              </a:spcBef>
              <a:spcAft>
                <a:spcPts val="0"/>
              </a:spcAft>
              <a:buSzPts val="2000"/>
              <a:buChar char="■"/>
              <a:defRPr sz="2000"/>
            </a:lvl6pPr>
            <a:lvl7pPr indent="-355600" lvl="6" marL="3200400">
              <a:spcBef>
                <a:spcPts val="0"/>
              </a:spcBef>
              <a:spcAft>
                <a:spcPts val="0"/>
              </a:spcAft>
              <a:buSzPts val="2000"/>
              <a:buChar char="●"/>
              <a:defRPr sz="2000"/>
            </a:lvl7pPr>
            <a:lvl8pPr indent="-355600" lvl="7" marL="3657600">
              <a:spcBef>
                <a:spcPts val="0"/>
              </a:spcBef>
              <a:spcAft>
                <a:spcPts val="0"/>
              </a:spcAft>
              <a:buSzPts val="2000"/>
              <a:buChar char="○"/>
              <a:defRPr sz="2000"/>
            </a:lvl8pPr>
            <a:lvl9pPr indent="-355600" lvl="8" marL="4114800">
              <a:spcBef>
                <a:spcPts val="0"/>
              </a:spcBef>
              <a:spcAft>
                <a:spcPts val="0"/>
              </a:spcAft>
              <a:buSzPts val="2000"/>
              <a:buChar char="■"/>
              <a:defRPr sz="20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338900"/>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318825"/>
            <a:ext cx="5444100" cy="755700"/>
          </a:xfrm>
          <a:prstGeom prst="rect">
            <a:avLst/>
          </a:prstGeom>
        </p:spPr>
        <p:txBody>
          <a:bodyPr anchorCtr="0" anchor="b" bIns="91425" lIns="91425" spcFirstLastPara="1" rIns="91425" wrap="square" tIns="91425">
            <a:normAutofit/>
          </a:bodyPr>
          <a:lstStyle>
            <a:lvl1pPr lvl="0">
              <a:spcBef>
                <a:spcPts val="0"/>
              </a:spcBef>
              <a:spcAft>
                <a:spcPts val="0"/>
              </a:spcAft>
              <a:buSzPts val="3100"/>
              <a:buNone/>
              <a:defRPr sz="3100"/>
            </a:lvl1pPr>
            <a:lvl2pPr lvl="1">
              <a:spcBef>
                <a:spcPts val="0"/>
              </a:spcBef>
              <a:spcAft>
                <a:spcPts val="0"/>
              </a:spcAft>
              <a:buSzPts val="2500"/>
              <a:buNone/>
              <a:defRPr sz="2500"/>
            </a:lvl2pPr>
            <a:lvl3pPr lvl="2">
              <a:spcBef>
                <a:spcPts val="0"/>
              </a:spcBef>
              <a:spcAft>
                <a:spcPts val="0"/>
              </a:spcAft>
              <a:buSzPts val="2500"/>
              <a:buNone/>
              <a:defRPr sz="2500"/>
            </a:lvl3pPr>
            <a:lvl4pPr lvl="3">
              <a:spcBef>
                <a:spcPts val="0"/>
              </a:spcBef>
              <a:spcAft>
                <a:spcPts val="0"/>
              </a:spcAft>
              <a:buSzPts val="2500"/>
              <a:buNone/>
              <a:defRPr sz="2500"/>
            </a:lvl4pPr>
            <a:lvl5pPr lvl="4">
              <a:spcBef>
                <a:spcPts val="0"/>
              </a:spcBef>
              <a:spcAft>
                <a:spcPts val="0"/>
              </a:spcAft>
              <a:buSzPts val="2500"/>
              <a:buNone/>
              <a:defRPr sz="2500"/>
            </a:lvl5pPr>
            <a:lvl6pPr lvl="5">
              <a:spcBef>
                <a:spcPts val="0"/>
              </a:spcBef>
              <a:spcAft>
                <a:spcPts val="0"/>
              </a:spcAft>
              <a:buSzPts val="2500"/>
              <a:buNone/>
              <a:defRPr sz="2500"/>
            </a:lvl6pPr>
            <a:lvl7pPr lvl="6">
              <a:spcBef>
                <a:spcPts val="0"/>
              </a:spcBef>
              <a:spcAft>
                <a:spcPts val="0"/>
              </a:spcAft>
              <a:buSzPts val="2500"/>
              <a:buNone/>
              <a:defRPr sz="2500"/>
            </a:lvl7pPr>
            <a:lvl8pPr lvl="7">
              <a:spcBef>
                <a:spcPts val="0"/>
              </a:spcBef>
              <a:spcAft>
                <a:spcPts val="0"/>
              </a:spcAft>
              <a:buSzPts val="2500"/>
              <a:buNone/>
              <a:defRPr sz="2500"/>
            </a:lvl8pPr>
            <a:lvl9pPr lvl="8">
              <a:spcBef>
                <a:spcPts val="0"/>
              </a:spcBef>
              <a:spcAft>
                <a:spcPts val="0"/>
              </a:spcAft>
              <a:buSzPts val="2500"/>
              <a:buNone/>
              <a:defRPr sz="2500"/>
            </a:lvl9pPr>
          </a:lstStyle>
          <a:p/>
        </p:txBody>
      </p:sp>
      <p:sp>
        <p:nvSpPr>
          <p:cNvPr id="30" name="Google Shape;30;p7"/>
          <p:cNvSpPr txBox="1"/>
          <p:nvPr>
            <p:ph idx="1" type="body"/>
          </p:nvPr>
        </p:nvSpPr>
        <p:spPr>
          <a:xfrm>
            <a:off x="311700" y="1389600"/>
            <a:ext cx="7844400" cy="3179400"/>
          </a:xfrm>
          <a:prstGeom prst="rect">
            <a:avLst/>
          </a:prstGeom>
        </p:spPr>
        <p:txBody>
          <a:bodyPr anchorCtr="0" anchor="t" bIns="91425" lIns="91425" spcFirstLastPara="1" rIns="91425" wrap="square" tIns="91425">
            <a:normAutofit/>
          </a:bodyPr>
          <a:lstStyle>
            <a:lvl1pPr indent="-355600" lvl="0" marL="457200">
              <a:spcBef>
                <a:spcPts val="0"/>
              </a:spcBef>
              <a:spcAft>
                <a:spcPts val="0"/>
              </a:spcAft>
              <a:buSzPts val="2000"/>
              <a:buChar char="●"/>
              <a:defRPr/>
            </a:lvl1pPr>
            <a:lvl2pPr indent="-355600" lvl="1" marL="914400">
              <a:spcBef>
                <a:spcPts val="0"/>
              </a:spcBef>
              <a:spcAft>
                <a:spcPts val="0"/>
              </a:spcAft>
              <a:buSzPts val="2000"/>
              <a:buChar char="○"/>
              <a:defRPr/>
            </a:lvl2pPr>
            <a:lvl3pPr indent="-355600" lvl="2" marL="1371600">
              <a:spcBef>
                <a:spcPts val="0"/>
              </a:spcBef>
              <a:spcAft>
                <a:spcPts val="0"/>
              </a:spcAft>
              <a:buSzPts val="2000"/>
              <a:buChar char="■"/>
              <a:defRPr/>
            </a:lvl3pPr>
            <a:lvl4pPr indent="-355600" lvl="3" marL="1828800">
              <a:spcBef>
                <a:spcPts val="0"/>
              </a:spcBef>
              <a:spcAft>
                <a:spcPts val="0"/>
              </a:spcAft>
              <a:buSzPts val="2000"/>
              <a:buChar char="●"/>
              <a:defRPr/>
            </a:lvl4pPr>
            <a:lvl5pPr indent="-355600" lvl="4" marL="2286000">
              <a:spcBef>
                <a:spcPts val="0"/>
              </a:spcBef>
              <a:spcAft>
                <a:spcPts val="0"/>
              </a:spcAft>
              <a:buSzPts val="2000"/>
              <a:buChar char="○"/>
              <a:defRPr/>
            </a:lvl5pPr>
            <a:lvl6pPr indent="-355600" lvl="5" marL="2743200">
              <a:spcBef>
                <a:spcPts val="0"/>
              </a:spcBef>
              <a:spcAft>
                <a:spcPts val="0"/>
              </a:spcAft>
              <a:buSzPts val="2000"/>
              <a:buChar char="■"/>
              <a:defRPr/>
            </a:lvl6pPr>
            <a:lvl7pPr indent="-355600" lvl="6" marL="3200400">
              <a:spcBef>
                <a:spcPts val="0"/>
              </a:spcBef>
              <a:spcAft>
                <a:spcPts val="0"/>
              </a:spcAft>
              <a:buSzPts val="2000"/>
              <a:buChar char="●"/>
              <a:defRPr/>
            </a:lvl7pPr>
            <a:lvl8pPr indent="-355600" lvl="7" marL="3657600">
              <a:spcBef>
                <a:spcPts val="0"/>
              </a:spcBef>
              <a:spcAft>
                <a:spcPts val="0"/>
              </a:spcAft>
              <a:buSzPts val="2000"/>
              <a:buChar char="○"/>
              <a:defRPr/>
            </a:lvl8pPr>
            <a:lvl9pPr indent="-355600" lvl="8" marL="4114800">
              <a:spcBef>
                <a:spcPts val="0"/>
              </a:spcBef>
              <a:spcAft>
                <a:spcPts val="0"/>
              </a:spcAft>
              <a:buSzPts val="2000"/>
              <a:buChar char="■"/>
              <a:defRPr/>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sz="1100"/>
            </a:lvl1pPr>
            <a:lvl2pPr lvl="1">
              <a:buNone/>
              <a:defRPr sz="1100"/>
            </a:lvl2pPr>
            <a:lvl3pPr lvl="2">
              <a:buNone/>
              <a:defRPr sz="1100"/>
            </a:lvl3pPr>
            <a:lvl4pPr lvl="3">
              <a:buNone/>
              <a:defRPr sz="1100"/>
            </a:lvl4pPr>
            <a:lvl5pPr lvl="4">
              <a:buNone/>
              <a:defRPr sz="1100"/>
            </a:lvl5pPr>
            <a:lvl6pPr lvl="5">
              <a:buNone/>
              <a:defRPr sz="1100"/>
            </a:lvl6pPr>
            <a:lvl7pPr lvl="6">
              <a:buNone/>
              <a:defRPr sz="1100"/>
            </a:lvl7pPr>
            <a:lvl8pPr lvl="7">
              <a:buNone/>
              <a:defRPr sz="1100"/>
            </a:lvl8pPr>
            <a:lvl9pPr lvl="8">
              <a:buNone/>
              <a:defRPr sz="1100"/>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300"/>
              <a:buNone/>
              <a:defRPr sz="43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55600" lvl="0" marL="457200">
              <a:spcBef>
                <a:spcPts val="0"/>
              </a:spcBef>
              <a:spcAft>
                <a:spcPts val="0"/>
              </a:spcAft>
              <a:buSzPts val="2000"/>
              <a:buChar char="●"/>
              <a:defRPr sz="2000"/>
            </a:lvl1pPr>
            <a:lvl2pPr indent="-355600" lvl="1" marL="914400">
              <a:spcBef>
                <a:spcPts val="0"/>
              </a:spcBef>
              <a:spcAft>
                <a:spcPts val="0"/>
              </a:spcAft>
              <a:buSzPts val="2000"/>
              <a:buChar char="○"/>
              <a:defRPr sz="2000"/>
            </a:lvl2pPr>
            <a:lvl3pPr indent="-355600" lvl="2" marL="1371600">
              <a:spcBef>
                <a:spcPts val="0"/>
              </a:spcBef>
              <a:spcAft>
                <a:spcPts val="0"/>
              </a:spcAft>
              <a:buSzPts val="2000"/>
              <a:buChar char="■"/>
              <a:defRPr sz="2000"/>
            </a:lvl3pPr>
            <a:lvl4pPr indent="-355600" lvl="3" marL="1828800">
              <a:spcBef>
                <a:spcPts val="0"/>
              </a:spcBef>
              <a:spcAft>
                <a:spcPts val="0"/>
              </a:spcAft>
              <a:buSzPts val="2000"/>
              <a:buChar char="●"/>
              <a:defRPr sz="2000"/>
            </a:lvl4pPr>
            <a:lvl5pPr indent="-355600" lvl="4" marL="2286000">
              <a:spcBef>
                <a:spcPts val="0"/>
              </a:spcBef>
              <a:spcAft>
                <a:spcPts val="0"/>
              </a:spcAft>
              <a:buSzPts val="2000"/>
              <a:buChar char="○"/>
              <a:defRPr sz="2000"/>
            </a:lvl5pPr>
            <a:lvl6pPr indent="-355600" lvl="5" marL="2743200">
              <a:spcBef>
                <a:spcPts val="0"/>
              </a:spcBef>
              <a:spcAft>
                <a:spcPts val="0"/>
              </a:spcAft>
              <a:buSzPts val="2000"/>
              <a:buChar char="■"/>
              <a:defRPr sz="2000"/>
            </a:lvl6pPr>
            <a:lvl7pPr indent="-355600" lvl="6" marL="3200400">
              <a:spcBef>
                <a:spcPts val="0"/>
              </a:spcBef>
              <a:spcAft>
                <a:spcPts val="0"/>
              </a:spcAft>
              <a:buSzPts val="2000"/>
              <a:buChar char="●"/>
              <a:defRPr sz="2000"/>
            </a:lvl7pPr>
            <a:lvl8pPr indent="-355600" lvl="7" marL="3657600">
              <a:spcBef>
                <a:spcPts val="0"/>
              </a:spcBef>
              <a:spcAft>
                <a:spcPts val="0"/>
              </a:spcAft>
              <a:buSzPts val="2000"/>
              <a:buChar char="○"/>
              <a:defRPr sz="2000"/>
            </a:lvl8pPr>
            <a:lvl9pPr indent="-355600" lvl="8" marL="4114800">
              <a:spcBef>
                <a:spcPts val="0"/>
              </a:spcBef>
              <a:spcAft>
                <a:spcPts val="0"/>
              </a:spcAft>
              <a:buSzPts val="2000"/>
              <a:buChar char="■"/>
              <a:defRPr sz="2000"/>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0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55600" lvl="0" marL="457200" algn="ctr">
              <a:spcBef>
                <a:spcPts val="0"/>
              </a:spcBef>
              <a:spcAft>
                <a:spcPts val="0"/>
              </a:spcAft>
              <a:buSzPts val="2000"/>
              <a:buChar char="●"/>
              <a:defRPr/>
            </a:lvl1pPr>
            <a:lvl2pPr indent="-355600" lvl="1" marL="914400" algn="ctr">
              <a:spcBef>
                <a:spcPts val="0"/>
              </a:spcBef>
              <a:spcAft>
                <a:spcPts val="0"/>
              </a:spcAft>
              <a:buSzPts val="2000"/>
              <a:buChar char="○"/>
              <a:defRPr/>
            </a:lvl2pPr>
            <a:lvl3pPr indent="-355600" lvl="2" marL="1371600" algn="ctr">
              <a:spcBef>
                <a:spcPts val="0"/>
              </a:spcBef>
              <a:spcAft>
                <a:spcPts val="0"/>
              </a:spcAft>
              <a:buSzPts val="2000"/>
              <a:buChar char="■"/>
              <a:defRPr/>
            </a:lvl3pPr>
            <a:lvl4pPr indent="-355600" lvl="3" marL="1828800" algn="ctr">
              <a:spcBef>
                <a:spcPts val="0"/>
              </a:spcBef>
              <a:spcAft>
                <a:spcPts val="0"/>
              </a:spcAft>
              <a:buSzPts val="2000"/>
              <a:buChar char="●"/>
              <a:defRPr/>
            </a:lvl4pPr>
            <a:lvl5pPr indent="-355600" lvl="4" marL="2286000" algn="ctr">
              <a:spcBef>
                <a:spcPts val="0"/>
              </a:spcBef>
              <a:spcAft>
                <a:spcPts val="0"/>
              </a:spcAft>
              <a:buSzPts val="2000"/>
              <a:buChar char="○"/>
              <a:defRPr/>
            </a:lvl5pPr>
            <a:lvl6pPr indent="-355600" lvl="5" marL="2743200" algn="ctr">
              <a:spcBef>
                <a:spcPts val="0"/>
              </a:spcBef>
              <a:spcAft>
                <a:spcPts val="0"/>
              </a:spcAft>
              <a:buSzPts val="2000"/>
              <a:buChar char="■"/>
              <a:defRPr/>
            </a:lvl6pPr>
            <a:lvl7pPr indent="-355600" lvl="6" marL="3200400" algn="ctr">
              <a:spcBef>
                <a:spcPts val="0"/>
              </a:spcBef>
              <a:spcAft>
                <a:spcPts val="0"/>
              </a:spcAft>
              <a:buSzPts val="2000"/>
              <a:buChar char="●"/>
              <a:defRPr/>
            </a:lvl7pPr>
            <a:lvl8pPr indent="-355600" lvl="7" marL="3657600" algn="ctr">
              <a:spcBef>
                <a:spcPts val="0"/>
              </a:spcBef>
              <a:spcAft>
                <a:spcPts val="0"/>
              </a:spcAft>
              <a:buSzPts val="2000"/>
              <a:buChar char="○"/>
              <a:defRPr/>
            </a:lvl8pPr>
            <a:lvl9pPr indent="-355600" lvl="8" marL="4114800" algn="ctr">
              <a:spcBef>
                <a:spcPts val="0"/>
              </a:spcBef>
              <a:spcAft>
                <a:spcPts val="0"/>
              </a:spcAft>
              <a:buSzPts val="20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Georgia"/>
              <a:buNone/>
              <a:defRPr sz="2800">
                <a:solidFill>
                  <a:schemeClr val="lt1"/>
                </a:solidFill>
                <a:latin typeface="Georgia"/>
                <a:ea typeface="Georgia"/>
                <a:cs typeface="Georgia"/>
                <a:sym typeface="Georgia"/>
              </a:defRPr>
            </a:lvl1pPr>
            <a:lvl2pPr lvl="1">
              <a:spcBef>
                <a:spcPts val="0"/>
              </a:spcBef>
              <a:spcAft>
                <a:spcPts val="0"/>
              </a:spcAft>
              <a:buClr>
                <a:schemeClr val="dk1"/>
              </a:buClr>
              <a:buSzPts val="2800"/>
              <a:buFont typeface="Georgia"/>
              <a:buNone/>
              <a:defRPr sz="2800">
                <a:solidFill>
                  <a:schemeClr val="dk1"/>
                </a:solidFill>
                <a:latin typeface="Georgia"/>
                <a:ea typeface="Georgia"/>
                <a:cs typeface="Georgia"/>
                <a:sym typeface="Georgia"/>
              </a:defRPr>
            </a:lvl2pPr>
            <a:lvl3pPr lvl="2">
              <a:spcBef>
                <a:spcPts val="0"/>
              </a:spcBef>
              <a:spcAft>
                <a:spcPts val="0"/>
              </a:spcAft>
              <a:buClr>
                <a:schemeClr val="dk1"/>
              </a:buClr>
              <a:buSzPts val="2800"/>
              <a:buFont typeface="Georgia"/>
              <a:buNone/>
              <a:defRPr sz="2800">
                <a:solidFill>
                  <a:schemeClr val="dk1"/>
                </a:solidFill>
                <a:latin typeface="Georgia"/>
                <a:ea typeface="Georgia"/>
                <a:cs typeface="Georgia"/>
                <a:sym typeface="Georgia"/>
              </a:defRPr>
            </a:lvl3pPr>
            <a:lvl4pPr lvl="3">
              <a:spcBef>
                <a:spcPts val="0"/>
              </a:spcBef>
              <a:spcAft>
                <a:spcPts val="0"/>
              </a:spcAft>
              <a:buClr>
                <a:schemeClr val="dk1"/>
              </a:buClr>
              <a:buSzPts val="2800"/>
              <a:buFont typeface="Georgia"/>
              <a:buNone/>
              <a:defRPr sz="2800">
                <a:solidFill>
                  <a:schemeClr val="dk1"/>
                </a:solidFill>
                <a:latin typeface="Georgia"/>
                <a:ea typeface="Georgia"/>
                <a:cs typeface="Georgia"/>
                <a:sym typeface="Georgia"/>
              </a:defRPr>
            </a:lvl4pPr>
            <a:lvl5pPr lvl="4">
              <a:spcBef>
                <a:spcPts val="0"/>
              </a:spcBef>
              <a:spcAft>
                <a:spcPts val="0"/>
              </a:spcAft>
              <a:buClr>
                <a:schemeClr val="dk1"/>
              </a:buClr>
              <a:buSzPts val="2800"/>
              <a:buFont typeface="Georgia"/>
              <a:buNone/>
              <a:defRPr sz="2800">
                <a:solidFill>
                  <a:schemeClr val="dk1"/>
                </a:solidFill>
                <a:latin typeface="Georgia"/>
                <a:ea typeface="Georgia"/>
                <a:cs typeface="Georgia"/>
                <a:sym typeface="Georgia"/>
              </a:defRPr>
            </a:lvl5pPr>
            <a:lvl6pPr lvl="5">
              <a:spcBef>
                <a:spcPts val="0"/>
              </a:spcBef>
              <a:spcAft>
                <a:spcPts val="0"/>
              </a:spcAft>
              <a:buClr>
                <a:schemeClr val="dk1"/>
              </a:buClr>
              <a:buSzPts val="2800"/>
              <a:buFont typeface="Georgia"/>
              <a:buNone/>
              <a:defRPr sz="2800">
                <a:solidFill>
                  <a:schemeClr val="dk1"/>
                </a:solidFill>
                <a:latin typeface="Georgia"/>
                <a:ea typeface="Georgia"/>
                <a:cs typeface="Georgia"/>
                <a:sym typeface="Georgia"/>
              </a:defRPr>
            </a:lvl6pPr>
            <a:lvl7pPr lvl="6">
              <a:spcBef>
                <a:spcPts val="0"/>
              </a:spcBef>
              <a:spcAft>
                <a:spcPts val="0"/>
              </a:spcAft>
              <a:buClr>
                <a:schemeClr val="dk1"/>
              </a:buClr>
              <a:buSzPts val="2800"/>
              <a:buFont typeface="Georgia"/>
              <a:buNone/>
              <a:defRPr sz="2800">
                <a:solidFill>
                  <a:schemeClr val="dk1"/>
                </a:solidFill>
                <a:latin typeface="Georgia"/>
                <a:ea typeface="Georgia"/>
                <a:cs typeface="Georgia"/>
                <a:sym typeface="Georgia"/>
              </a:defRPr>
            </a:lvl7pPr>
            <a:lvl8pPr lvl="7">
              <a:spcBef>
                <a:spcPts val="0"/>
              </a:spcBef>
              <a:spcAft>
                <a:spcPts val="0"/>
              </a:spcAft>
              <a:buClr>
                <a:schemeClr val="dk1"/>
              </a:buClr>
              <a:buSzPts val="2800"/>
              <a:buFont typeface="Georgia"/>
              <a:buNone/>
              <a:defRPr sz="2800">
                <a:solidFill>
                  <a:schemeClr val="dk1"/>
                </a:solidFill>
                <a:latin typeface="Georgia"/>
                <a:ea typeface="Georgia"/>
                <a:cs typeface="Georgia"/>
                <a:sym typeface="Georgia"/>
              </a:defRPr>
            </a:lvl8pPr>
            <a:lvl9pPr lvl="8">
              <a:spcBef>
                <a:spcPts val="0"/>
              </a:spcBef>
              <a:spcAft>
                <a:spcPts val="0"/>
              </a:spcAft>
              <a:buClr>
                <a:schemeClr val="dk1"/>
              </a:buClr>
              <a:buSzPts val="2800"/>
              <a:buFont typeface="Georgia"/>
              <a:buNone/>
              <a:defRPr sz="2800">
                <a:solidFill>
                  <a:schemeClr val="dk1"/>
                </a:solidFill>
                <a:latin typeface="Georgia"/>
                <a:ea typeface="Georgia"/>
                <a:cs typeface="Georgia"/>
                <a:sym typeface="Georgia"/>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55600" lvl="0" marL="457200">
              <a:lnSpc>
                <a:spcPct val="115000"/>
              </a:lnSpc>
              <a:spcBef>
                <a:spcPts val="0"/>
              </a:spcBef>
              <a:spcAft>
                <a:spcPts val="0"/>
              </a:spcAft>
              <a:buClr>
                <a:schemeClr val="lt1"/>
              </a:buClr>
              <a:buSzPts val="2000"/>
              <a:buFont typeface="Georgia"/>
              <a:buChar char="●"/>
              <a:defRPr sz="2000">
                <a:solidFill>
                  <a:schemeClr val="lt1"/>
                </a:solidFill>
                <a:latin typeface="Georgia"/>
                <a:ea typeface="Georgia"/>
                <a:cs typeface="Georgia"/>
                <a:sym typeface="Georgia"/>
              </a:defRPr>
            </a:lvl1pPr>
            <a:lvl2pPr indent="-355600" lvl="1" marL="914400">
              <a:lnSpc>
                <a:spcPct val="115000"/>
              </a:lnSpc>
              <a:spcBef>
                <a:spcPts val="0"/>
              </a:spcBef>
              <a:spcAft>
                <a:spcPts val="0"/>
              </a:spcAft>
              <a:buClr>
                <a:schemeClr val="lt1"/>
              </a:buClr>
              <a:buSzPts val="2000"/>
              <a:buFont typeface="Georgia"/>
              <a:buChar char="○"/>
              <a:defRPr sz="2000">
                <a:solidFill>
                  <a:schemeClr val="lt1"/>
                </a:solidFill>
                <a:latin typeface="Georgia"/>
                <a:ea typeface="Georgia"/>
                <a:cs typeface="Georgia"/>
                <a:sym typeface="Georgia"/>
              </a:defRPr>
            </a:lvl2pPr>
            <a:lvl3pPr indent="-355600" lvl="2" marL="1371600">
              <a:lnSpc>
                <a:spcPct val="115000"/>
              </a:lnSpc>
              <a:spcBef>
                <a:spcPts val="0"/>
              </a:spcBef>
              <a:spcAft>
                <a:spcPts val="0"/>
              </a:spcAft>
              <a:buClr>
                <a:schemeClr val="lt1"/>
              </a:buClr>
              <a:buSzPts val="2000"/>
              <a:buFont typeface="Georgia"/>
              <a:buChar char="■"/>
              <a:defRPr sz="2000">
                <a:solidFill>
                  <a:schemeClr val="lt1"/>
                </a:solidFill>
                <a:latin typeface="Georgia"/>
                <a:ea typeface="Georgia"/>
                <a:cs typeface="Georgia"/>
                <a:sym typeface="Georgia"/>
              </a:defRPr>
            </a:lvl3pPr>
            <a:lvl4pPr indent="-355600" lvl="3" marL="1828800">
              <a:lnSpc>
                <a:spcPct val="115000"/>
              </a:lnSpc>
              <a:spcBef>
                <a:spcPts val="0"/>
              </a:spcBef>
              <a:spcAft>
                <a:spcPts val="0"/>
              </a:spcAft>
              <a:buClr>
                <a:schemeClr val="lt1"/>
              </a:buClr>
              <a:buSzPts val="2000"/>
              <a:buFont typeface="Georgia"/>
              <a:buChar char="●"/>
              <a:defRPr sz="2000">
                <a:solidFill>
                  <a:schemeClr val="lt1"/>
                </a:solidFill>
                <a:latin typeface="Georgia"/>
                <a:ea typeface="Georgia"/>
                <a:cs typeface="Georgia"/>
                <a:sym typeface="Georgia"/>
              </a:defRPr>
            </a:lvl4pPr>
            <a:lvl5pPr indent="-355600" lvl="4" marL="2286000">
              <a:lnSpc>
                <a:spcPct val="115000"/>
              </a:lnSpc>
              <a:spcBef>
                <a:spcPts val="0"/>
              </a:spcBef>
              <a:spcAft>
                <a:spcPts val="0"/>
              </a:spcAft>
              <a:buClr>
                <a:schemeClr val="lt1"/>
              </a:buClr>
              <a:buSzPts val="2000"/>
              <a:buFont typeface="Georgia"/>
              <a:buChar char="○"/>
              <a:defRPr sz="2000">
                <a:solidFill>
                  <a:schemeClr val="lt1"/>
                </a:solidFill>
                <a:latin typeface="Georgia"/>
                <a:ea typeface="Georgia"/>
                <a:cs typeface="Georgia"/>
                <a:sym typeface="Georgia"/>
              </a:defRPr>
            </a:lvl5pPr>
            <a:lvl6pPr indent="-355600" lvl="5" marL="2743200">
              <a:lnSpc>
                <a:spcPct val="115000"/>
              </a:lnSpc>
              <a:spcBef>
                <a:spcPts val="0"/>
              </a:spcBef>
              <a:spcAft>
                <a:spcPts val="0"/>
              </a:spcAft>
              <a:buClr>
                <a:schemeClr val="lt1"/>
              </a:buClr>
              <a:buSzPts val="2000"/>
              <a:buFont typeface="Georgia"/>
              <a:buChar char="■"/>
              <a:defRPr sz="2000">
                <a:solidFill>
                  <a:schemeClr val="lt1"/>
                </a:solidFill>
                <a:latin typeface="Georgia"/>
                <a:ea typeface="Georgia"/>
                <a:cs typeface="Georgia"/>
                <a:sym typeface="Georgia"/>
              </a:defRPr>
            </a:lvl6pPr>
            <a:lvl7pPr indent="-355600" lvl="6" marL="3200400">
              <a:lnSpc>
                <a:spcPct val="115000"/>
              </a:lnSpc>
              <a:spcBef>
                <a:spcPts val="0"/>
              </a:spcBef>
              <a:spcAft>
                <a:spcPts val="0"/>
              </a:spcAft>
              <a:buClr>
                <a:schemeClr val="lt1"/>
              </a:buClr>
              <a:buSzPts val="2000"/>
              <a:buFont typeface="Georgia"/>
              <a:buChar char="●"/>
              <a:defRPr sz="2000">
                <a:solidFill>
                  <a:schemeClr val="lt1"/>
                </a:solidFill>
                <a:latin typeface="Georgia"/>
                <a:ea typeface="Georgia"/>
                <a:cs typeface="Georgia"/>
                <a:sym typeface="Georgia"/>
              </a:defRPr>
            </a:lvl7pPr>
            <a:lvl8pPr indent="-355600" lvl="7" marL="3657600">
              <a:lnSpc>
                <a:spcPct val="115000"/>
              </a:lnSpc>
              <a:spcBef>
                <a:spcPts val="0"/>
              </a:spcBef>
              <a:spcAft>
                <a:spcPts val="0"/>
              </a:spcAft>
              <a:buClr>
                <a:schemeClr val="lt1"/>
              </a:buClr>
              <a:buSzPts val="2000"/>
              <a:buFont typeface="Georgia"/>
              <a:buChar char="○"/>
              <a:defRPr sz="2000">
                <a:solidFill>
                  <a:schemeClr val="lt1"/>
                </a:solidFill>
                <a:latin typeface="Georgia"/>
                <a:ea typeface="Georgia"/>
                <a:cs typeface="Georgia"/>
                <a:sym typeface="Georgia"/>
              </a:defRPr>
            </a:lvl8pPr>
            <a:lvl9pPr indent="-355600" lvl="8" marL="4114800">
              <a:lnSpc>
                <a:spcPct val="115000"/>
              </a:lnSpc>
              <a:spcBef>
                <a:spcPts val="0"/>
              </a:spcBef>
              <a:spcAft>
                <a:spcPts val="0"/>
              </a:spcAft>
              <a:buClr>
                <a:schemeClr val="lt1"/>
              </a:buClr>
              <a:buSzPts val="2000"/>
              <a:buFont typeface="Georgia"/>
              <a:buChar char="■"/>
              <a:defRPr sz="2000">
                <a:solidFill>
                  <a:schemeClr val="lt1"/>
                </a:solidFill>
                <a:latin typeface="Georgia"/>
                <a:ea typeface="Georgia"/>
                <a:cs typeface="Georgia"/>
                <a:sym typeface="Georgia"/>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Georgia"/>
                <a:ea typeface="Georgia"/>
                <a:cs typeface="Georgia"/>
                <a:sym typeface="Georgia"/>
              </a:defRPr>
            </a:lvl1pPr>
            <a:lvl2pPr lvl="1" algn="r">
              <a:buNone/>
              <a:defRPr sz="1000">
                <a:solidFill>
                  <a:schemeClr val="dk2"/>
                </a:solidFill>
                <a:latin typeface="Georgia"/>
                <a:ea typeface="Georgia"/>
                <a:cs typeface="Georgia"/>
                <a:sym typeface="Georgia"/>
              </a:defRPr>
            </a:lvl2pPr>
            <a:lvl3pPr lvl="2" algn="r">
              <a:buNone/>
              <a:defRPr sz="1000">
                <a:solidFill>
                  <a:schemeClr val="dk2"/>
                </a:solidFill>
                <a:latin typeface="Georgia"/>
                <a:ea typeface="Georgia"/>
                <a:cs typeface="Georgia"/>
                <a:sym typeface="Georgia"/>
              </a:defRPr>
            </a:lvl3pPr>
            <a:lvl4pPr lvl="3" algn="r">
              <a:buNone/>
              <a:defRPr sz="1000">
                <a:solidFill>
                  <a:schemeClr val="dk2"/>
                </a:solidFill>
                <a:latin typeface="Georgia"/>
                <a:ea typeface="Georgia"/>
                <a:cs typeface="Georgia"/>
                <a:sym typeface="Georgia"/>
              </a:defRPr>
            </a:lvl4pPr>
            <a:lvl5pPr lvl="4" algn="r">
              <a:buNone/>
              <a:defRPr sz="1000">
                <a:solidFill>
                  <a:schemeClr val="dk2"/>
                </a:solidFill>
                <a:latin typeface="Georgia"/>
                <a:ea typeface="Georgia"/>
                <a:cs typeface="Georgia"/>
                <a:sym typeface="Georgia"/>
              </a:defRPr>
            </a:lvl5pPr>
            <a:lvl6pPr lvl="5" algn="r">
              <a:buNone/>
              <a:defRPr sz="1000">
                <a:solidFill>
                  <a:schemeClr val="dk2"/>
                </a:solidFill>
                <a:latin typeface="Georgia"/>
                <a:ea typeface="Georgia"/>
                <a:cs typeface="Georgia"/>
                <a:sym typeface="Georgia"/>
              </a:defRPr>
            </a:lvl6pPr>
            <a:lvl7pPr lvl="6" algn="r">
              <a:buNone/>
              <a:defRPr sz="1000">
                <a:solidFill>
                  <a:schemeClr val="dk2"/>
                </a:solidFill>
                <a:latin typeface="Georgia"/>
                <a:ea typeface="Georgia"/>
                <a:cs typeface="Georgia"/>
                <a:sym typeface="Georgia"/>
              </a:defRPr>
            </a:lvl7pPr>
            <a:lvl8pPr lvl="7" algn="r">
              <a:buNone/>
              <a:defRPr sz="1000">
                <a:solidFill>
                  <a:schemeClr val="dk2"/>
                </a:solidFill>
                <a:latin typeface="Georgia"/>
                <a:ea typeface="Georgia"/>
                <a:cs typeface="Georgia"/>
                <a:sym typeface="Georgia"/>
              </a:defRPr>
            </a:lvl8pPr>
            <a:lvl9pPr lvl="8" algn="r">
              <a:buNone/>
              <a:defRPr sz="1000">
                <a:solidFill>
                  <a:schemeClr val="dk2"/>
                </a:solidFill>
                <a:latin typeface="Georgia"/>
                <a:ea typeface="Georgia"/>
                <a:cs typeface="Georgia"/>
                <a:sym typeface="Georgi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5.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4.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1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13.png"/><Relationship Id="rId4" Type="http://schemas.openxmlformats.org/officeDocument/2006/relationships/image" Target="../media/image11.png"/><Relationship Id="rId5"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 Id="rId3" Type="http://schemas.openxmlformats.org/officeDocument/2006/relationships/image" Target="../media/image5.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298650" y="784625"/>
            <a:ext cx="8546700" cy="1561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7000">
                <a:solidFill>
                  <a:schemeClr val="lt1"/>
                </a:solidFill>
                <a:latin typeface="Georgia"/>
                <a:ea typeface="Georgia"/>
                <a:cs typeface="Georgia"/>
                <a:sym typeface="Georgia"/>
              </a:rPr>
              <a:t>Pasteurization</a:t>
            </a:r>
            <a:endParaRPr sz="6900">
              <a:solidFill>
                <a:schemeClr val="lt1"/>
              </a:solidFill>
              <a:latin typeface="Georgia"/>
              <a:ea typeface="Georgia"/>
              <a:cs typeface="Georgia"/>
              <a:sym typeface="Georgia"/>
            </a:endParaRPr>
          </a:p>
        </p:txBody>
      </p:sp>
      <p:sp>
        <p:nvSpPr>
          <p:cNvPr id="55" name="Google Shape;55;p13"/>
          <p:cNvSpPr txBox="1"/>
          <p:nvPr/>
        </p:nvSpPr>
        <p:spPr>
          <a:xfrm>
            <a:off x="617250" y="2004575"/>
            <a:ext cx="7909500" cy="96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 sz="4000">
                <a:solidFill>
                  <a:schemeClr val="lt1"/>
                </a:solidFill>
                <a:latin typeface="Georgia"/>
                <a:ea typeface="Georgia"/>
                <a:cs typeface="Georgia"/>
                <a:sym typeface="Georgia"/>
              </a:rPr>
              <a:t>A tipsy tour through history &amp; Saving Humanity</a:t>
            </a:r>
            <a:endParaRPr i="1" sz="4000">
              <a:solidFill>
                <a:schemeClr val="lt1"/>
              </a:solidFill>
              <a:latin typeface="Georgia"/>
              <a:ea typeface="Georgia"/>
              <a:cs typeface="Georgia"/>
              <a:sym typeface="Georgia"/>
            </a:endParaRPr>
          </a:p>
        </p:txBody>
      </p:sp>
      <p:sp>
        <p:nvSpPr>
          <p:cNvPr id="56" name="Google Shape;56;p13"/>
          <p:cNvSpPr txBox="1"/>
          <p:nvPr/>
        </p:nvSpPr>
        <p:spPr>
          <a:xfrm>
            <a:off x="2676150" y="3682800"/>
            <a:ext cx="3791700" cy="846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000">
                <a:solidFill>
                  <a:schemeClr val="lt1"/>
                </a:solidFill>
                <a:latin typeface="Georgia"/>
                <a:ea typeface="Georgia"/>
                <a:cs typeface="Georgia"/>
                <a:sym typeface="Georgia"/>
              </a:rPr>
              <a:t>Eric White</a:t>
            </a:r>
            <a:endParaRPr sz="3000">
              <a:solidFill>
                <a:schemeClr val="lt1"/>
              </a:solidFill>
              <a:latin typeface="Georgia"/>
              <a:ea typeface="Georgia"/>
              <a:cs typeface="Georgia"/>
              <a:sym typeface="Georgia"/>
            </a:endParaRPr>
          </a:p>
        </p:txBody>
      </p:sp>
      <p:pic>
        <p:nvPicPr>
          <p:cNvPr id="57" name="Google Shape;57;p13" title="Curiosity Guild (3).jpg"/>
          <p:cNvPicPr preferRelativeResize="0"/>
          <p:nvPr/>
        </p:nvPicPr>
        <p:blipFill>
          <a:blip r:embed="rId3">
            <a:alphaModFix/>
          </a:blip>
          <a:stretch>
            <a:fillRect/>
          </a:stretch>
        </p:blipFill>
        <p:spPr>
          <a:xfrm>
            <a:off x="152400" y="3102900"/>
            <a:ext cx="1836625" cy="18366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Louis Pasteur</a:t>
            </a:r>
            <a:endParaRPr/>
          </a:p>
        </p:txBody>
      </p:sp>
      <p:sp>
        <p:nvSpPr>
          <p:cNvPr id="63" name="Google Shape;63;p14"/>
          <p:cNvSpPr txBox="1"/>
          <p:nvPr>
            <p:ph idx="1" type="subTitle"/>
          </p:nvPr>
        </p:nvSpPr>
        <p:spPr>
          <a:xfrm>
            <a:off x="311700" y="2883582"/>
            <a:ext cx="8520600" cy="792600"/>
          </a:xfrm>
          <a:prstGeom prst="rect">
            <a:avLst/>
          </a:prstGeom>
        </p:spPr>
        <p:txBody>
          <a:bodyPr anchorCtr="0" anchor="t" bIns="91425" lIns="91425" spcFirstLastPara="1" rIns="91425" wrap="square" tIns="91425">
            <a:normAutofit fontScale="77500"/>
          </a:bodyPr>
          <a:lstStyle/>
          <a:p>
            <a:pPr indent="0" lvl="0" marL="0" rtl="0" algn="ctr">
              <a:spcBef>
                <a:spcPts val="0"/>
              </a:spcBef>
              <a:spcAft>
                <a:spcPts val="0"/>
              </a:spcAft>
              <a:buNone/>
            </a:pPr>
            <a:r>
              <a:rPr lang="en"/>
              <a:t>“</a:t>
            </a:r>
            <a:r>
              <a:rPr i="1" lang="en"/>
              <a:t>I just wanted to save the wine industry</a:t>
            </a:r>
            <a:r>
              <a:rPr lang="en"/>
              <a:t>” —Pasteur (probably)</a:t>
            </a:r>
            <a:endParaRPr/>
          </a:p>
        </p:txBody>
      </p:sp>
      <p:pic>
        <p:nvPicPr>
          <p:cNvPr id="64" name="Google Shape;64;p14"/>
          <p:cNvPicPr preferRelativeResize="0"/>
          <p:nvPr/>
        </p:nvPicPr>
        <p:blipFill>
          <a:blip r:embed="rId3">
            <a:alphaModFix/>
          </a:blip>
          <a:stretch>
            <a:fillRect/>
          </a:stretch>
        </p:blipFill>
        <p:spPr>
          <a:xfrm>
            <a:off x="135400" y="212325"/>
            <a:ext cx="2359425" cy="2359425"/>
          </a:xfrm>
          <a:prstGeom prst="rect">
            <a:avLst/>
          </a:prstGeom>
          <a:noFill/>
          <a:ln>
            <a:noFill/>
          </a:ln>
        </p:spPr>
      </p:pic>
      <p:pic>
        <p:nvPicPr>
          <p:cNvPr id="65" name="Google Shape;65;p14"/>
          <p:cNvPicPr preferRelativeResize="0"/>
          <p:nvPr/>
        </p:nvPicPr>
        <p:blipFill>
          <a:blip r:embed="rId4">
            <a:alphaModFix/>
          </a:blip>
          <a:stretch>
            <a:fillRect/>
          </a:stretch>
        </p:blipFill>
        <p:spPr>
          <a:xfrm>
            <a:off x="6679549" y="123650"/>
            <a:ext cx="2292183" cy="2710476"/>
          </a:xfrm>
          <a:prstGeom prst="rect">
            <a:avLst/>
          </a:prstGeom>
          <a:noFill/>
          <a:ln>
            <a:noFill/>
          </a:ln>
        </p:spPr>
      </p:pic>
      <p:sp>
        <p:nvSpPr>
          <p:cNvPr id="66" name="Google Shape;66;p14"/>
          <p:cNvSpPr txBox="1"/>
          <p:nvPr/>
        </p:nvSpPr>
        <p:spPr>
          <a:xfrm>
            <a:off x="491850" y="3626725"/>
            <a:ext cx="81603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300">
              <a:solidFill>
                <a:schemeClr val="lt1"/>
              </a:solidFill>
              <a:highlight>
                <a:schemeClr val="dk1"/>
              </a:highlight>
              <a:latin typeface="Georgia"/>
              <a:ea typeface="Georgia"/>
              <a:cs typeface="Georgia"/>
              <a:sym typeface="Georgi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020"/>
              <a:t>France's Boozy Crisis: The 1800s Edition</a:t>
            </a:r>
            <a:endParaRPr sz="3020"/>
          </a:p>
          <a:p>
            <a:pPr indent="0" lvl="0" marL="0" rtl="0" algn="l">
              <a:spcBef>
                <a:spcPts val="0"/>
              </a:spcBef>
              <a:spcAft>
                <a:spcPts val="0"/>
              </a:spcAft>
              <a:buSzPts val="990"/>
              <a:buNone/>
            </a:pPr>
            <a:r>
              <a:t/>
            </a:r>
            <a:endParaRPr sz="3020"/>
          </a:p>
        </p:txBody>
      </p:sp>
      <p:sp>
        <p:nvSpPr>
          <p:cNvPr id="72" name="Google Shape;72;p1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Back in the 1800s, France has a real problem: wine and beer are spoiling, exports are getting wrecked, reputations are getting wrecked, and everybody’s losing money</a:t>
            </a:r>
            <a:endParaRPr/>
          </a:p>
        </p:txBody>
      </p:sp>
      <p:pic>
        <p:nvPicPr>
          <p:cNvPr id="73" name="Google Shape;73;p15" title="IMG_2564.jpg"/>
          <p:cNvPicPr preferRelativeResize="0"/>
          <p:nvPr/>
        </p:nvPicPr>
        <p:blipFill>
          <a:blip r:embed="rId3">
            <a:alphaModFix/>
          </a:blip>
          <a:stretch>
            <a:fillRect/>
          </a:stretch>
        </p:blipFill>
        <p:spPr>
          <a:xfrm>
            <a:off x="4175489" y="1293796"/>
            <a:ext cx="4527601" cy="339481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6"/>
          <p:cNvSpPr txBox="1"/>
          <p:nvPr/>
        </p:nvSpPr>
        <p:spPr>
          <a:xfrm>
            <a:off x="365175" y="846097"/>
            <a:ext cx="8437800" cy="3170100"/>
          </a:xfrm>
          <a:prstGeom prst="rect">
            <a:avLst/>
          </a:prstGeom>
          <a:noFill/>
          <a:ln>
            <a:noFill/>
          </a:ln>
        </p:spPr>
        <p:txBody>
          <a:bodyPr anchorCtr="0" anchor="t" bIns="91425" lIns="91425" spcFirstLastPara="1" rIns="91425" wrap="square" tIns="91425">
            <a:noAutofit/>
          </a:bodyPr>
          <a:lstStyle/>
          <a:p>
            <a:pPr indent="0" lvl="0" marL="0" rtl="0" algn="ctr">
              <a:spcBef>
                <a:spcPts val="600"/>
              </a:spcBef>
              <a:spcAft>
                <a:spcPts val="0"/>
              </a:spcAft>
              <a:buClr>
                <a:schemeClr val="dk1"/>
              </a:buClr>
              <a:buSzPts val="1100"/>
              <a:buFont typeface="Arial"/>
              <a:buNone/>
            </a:pPr>
            <a:r>
              <a:rPr i="1" lang="en" sz="3100">
                <a:solidFill>
                  <a:schemeClr val="lt1"/>
                </a:solidFill>
                <a:latin typeface="Georgia"/>
                <a:ea typeface="Georgia"/>
                <a:cs typeface="Georgia"/>
                <a:sym typeface="Georgia"/>
              </a:rPr>
              <a:t>“dans les champs de l'observation, le hasard ne favorise que les esprits préparés” </a:t>
            </a:r>
            <a:endParaRPr i="1" sz="3100">
              <a:solidFill>
                <a:schemeClr val="lt1"/>
              </a:solidFill>
              <a:latin typeface="Georgia"/>
              <a:ea typeface="Georgia"/>
              <a:cs typeface="Georgia"/>
              <a:sym typeface="Georgia"/>
            </a:endParaRPr>
          </a:p>
          <a:p>
            <a:pPr indent="0" lvl="0" marL="0" rtl="0" algn="ctr">
              <a:spcBef>
                <a:spcPts val="600"/>
              </a:spcBef>
              <a:spcAft>
                <a:spcPts val="0"/>
              </a:spcAft>
              <a:buClr>
                <a:schemeClr val="dk1"/>
              </a:buClr>
              <a:buSzPts val="1100"/>
              <a:buFont typeface="Arial"/>
              <a:buNone/>
            </a:pPr>
            <a:r>
              <a:t/>
            </a:r>
            <a:endParaRPr i="1" sz="3100">
              <a:solidFill>
                <a:schemeClr val="lt1"/>
              </a:solidFill>
              <a:latin typeface="Georgia"/>
              <a:ea typeface="Georgia"/>
              <a:cs typeface="Georgia"/>
              <a:sym typeface="Georgia"/>
            </a:endParaRPr>
          </a:p>
          <a:p>
            <a:pPr indent="0" lvl="0" marL="0" rtl="0" algn="ctr">
              <a:spcBef>
                <a:spcPts val="600"/>
              </a:spcBef>
              <a:spcAft>
                <a:spcPts val="0"/>
              </a:spcAft>
              <a:buClr>
                <a:schemeClr val="dk1"/>
              </a:buClr>
              <a:buSzPts val="1100"/>
              <a:buFont typeface="Arial"/>
              <a:buNone/>
            </a:pPr>
            <a:r>
              <a:rPr i="1" lang="en" sz="3100">
                <a:solidFill>
                  <a:schemeClr val="lt1"/>
                </a:solidFill>
                <a:latin typeface="Georgia"/>
                <a:ea typeface="Georgia"/>
                <a:cs typeface="Georgia"/>
                <a:sym typeface="Georgia"/>
              </a:rPr>
              <a:t>(“In the field of observation, chance favors only the prepared mind”)</a:t>
            </a:r>
            <a:endParaRPr i="1" sz="3100">
              <a:solidFill>
                <a:schemeClr val="lt1"/>
              </a:solidFill>
              <a:latin typeface="Georgia"/>
              <a:ea typeface="Georgia"/>
              <a:cs typeface="Georgia"/>
              <a:sym typeface="Georgia"/>
            </a:endParaRPr>
          </a:p>
          <a:p>
            <a:pPr indent="0" lvl="0" marL="0" rtl="0" algn="l">
              <a:spcBef>
                <a:spcPts val="600"/>
              </a:spcBef>
              <a:spcAft>
                <a:spcPts val="0"/>
              </a:spcAft>
              <a:buClr>
                <a:schemeClr val="dk1"/>
              </a:buClr>
              <a:buSzPts val="1100"/>
              <a:buFont typeface="Arial"/>
              <a:buNone/>
            </a:pPr>
            <a:r>
              <a:t/>
            </a:r>
            <a:endParaRPr i="1" sz="3600">
              <a:solidFill>
                <a:schemeClr val="lt1"/>
              </a:solidFill>
              <a:latin typeface="Garamond"/>
              <a:ea typeface="Garamond"/>
              <a:cs typeface="Garamond"/>
              <a:sym typeface="Garamond"/>
            </a:endParaRPr>
          </a:p>
          <a:p>
            <a:pPr indent="0" lvl="0" marL="457200" rtl="0" algn="l">
              <a:spcBef>
                <a:spcPts val="600"/>
              </a:spcBef>
              <a:spcAft>
                <a:spcPts val="0"/>
              </a:spcAft>
              <a:buNone/>
            </a:pPr>
            <a:r>
              <a:t/>
            </a:r>
            <a:endParaRPr sz="1800">
              <a:solidFill>
                <a:schemeClr val="lt1"/>
              </a:solidFill>
              <a:latin typeface="Georgia"/>
              <a:ea typeface="Georgia"/>
              <a:cs typeface="Georgia"/>
              <a:sym typeface="Georgia"/>
            </a:endParaRPr>
          </a:p>
        </p:txBody>
      </p:sp>
      <p:sp>
        <p:nvSpPr>
          <p:cNvPr id="79" name="Google Shape;79;p16"/>
          <p:cNvSpPr txBox="1"/>
          <p:nvPr/>
        </p:nvSpPr>
        <p:spPr>
          <a:xfrm>
            <a:off x="380700" y="4047975"/>
            <a:ext cx="8422200" cy="660300"/>
          </a:xfrm>
          <a:prstGeom prst="rect">
            <a:avLst/>
          </a:prstGeom>
          <a:noFill/>
          <a:ln>
            <a:noFill/>
          </a:ln>
        </p:spPr>
        <p:txBody>
          <a:bodyPr anchorCtr="0" anchor="t" bIns="91425" lIns="91425" spcFirstLastPara="1" rIns="91425" wrap="square" tIns="91425">
            <a:noAutofit/>
          </a:bodyPr>
          <a:lstStyle/>
          <a:p>
            <a:pPr indent="-419100" lvl="0" marL="457200" rtl="0" algn="ctr">
              <a:spcBef>
                <a:spcPts val="600"/>
              </a:spcBef>
              <a:spcAft>
                <a:spcPts val="0"/>
              </a:spcAft>
              <a:buClr>
                <a:schemeClr val="lt1"/>
              </a:buClr>
              <a:buSzPts val="3000"/>
              <a:buFont typeface="Georgia"/>
              <a:buChar char="-"/>
            </a:pPr>
            <a:r>
              <a:rPr lang="en" sz="3000">
                <a:solidFill>
                  <a:schemeClr val="lt1"/>
                </a:solidFill>
                <a:latin typeface="Georgia"/>
                <a:ea typeface="Georgia"/>
                <a:cs typeface="Georgia"/>
                <a:sym typeface="Georgia"/>
              </a:rPr>
              <a:t>Louis Pasteur</a:t>
            </a:r>
            <a:r>
              <a:rPr lang="en" sz="3000">
                <a:solidFill>
                  <a:schemeClr val="lt1"/>
                </a:solidFill>
                <a:latin typeface="Georgia"/>
                <a:ea typeface="Georgia"/>
                <a:cs typeface="Georgia"/>
                <a:sym typeface="Georgia"/>
              </a:rPr>
              <a:t>, 1854</a:t>
            </a:r>
            <a:endParaRPr>
              <a:solidFill>
                <a:schemeClr val="lt1"/>
              </a:solidFill>
              <a:latin typeface="Georgia"/>
              <a:ea typeface="Georgia"/>
              <a:cs typeface="Georgia"/>
              <a:sym typeface="Georgi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020"/>
              <a:t>Louis Pasteur: Science Nerd</a:t>
            </a:r>
            <a:endParaRPr sz="3020"/>
          </a:p>
        </p:txBody>
      </p:sp>
      <p:pic>
        <p:nvPicPr>
          <p:cNvPr id="85" name="Google Shape;85;p17"/>
          <p:cNvPicPr preferRelativeResize="0"/>
          <p:nvPr/>
        </p:nvPicPr>
        <p:blipFill>
          <a:blip r:embed="rId3">
            <a:alphaModFix/>
          </a:blip>
          <a:stretch>
            <a:fillRect/>
          </a:stretch>
        </p:blipFill>
        <p:spPr>
          <a:xfrm>
            <a:off x="1948250" y="1279247"/>
            <a:ext cx="5247501" cy="35000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020"/>
              <a:t>France's Boozy Crisis: The 1800s Edition</a:t>
            </a:r>
            <a:endParaRPr sz="3020"/>
          </a:p>
          <a:p>
            <a:pPr indent="0" lvl="0" marL="0" rtl="0" algn="l">
              <a:spcBef>
                <a:spcPts val="0"/>
              </a:spcBef>
              <a:spcAft>
                <a:spcPts val="0"/>
              </a:spcAft>
              <a:buSzPts val="990"/>
              <a:buNone/>
            </a:pPr>
            <a:r>
              <a:t/>
            </a:r>
            <a:endParaRPr sz="3020"/>
          </a:p>
        </p:txBody>
      </p:sp>
      <p:sp>
        <p:nvSpPr>
          <p:cNvPr id="91" name="Google Shape;91;p18"/>
          <p:cNvSpPr txBox="1"/>
          <p:nvPr>
            <p:ph idx="1" type="body"/>
          </p:nvPr>
        </p:nvSpPr>
        <p:spPr>
          <a:xfrm>
            <a:off x="4712475"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Emperor Napoleon III called upon Louis Pasteur in 1863 to investigate why French wines were spoiling and turning to vinegar. </a:t>
            </a:r>
            <a:endParaRPr/>
          </a:p>
        </p:txBody>
      </p:sp>
      <p:pic>
        <p:nvPicPr>
          <p:cNvPr id="92" name="Google Shape;92;p18"/>
          <p:cNvPicPr preferRelativeResize="0"/>
          <p:nvPr/>
        </p:nvPicPr>
        <p:blipFill>
          <a:blip r:embed="rId3">
            <a:alphaModFix/>
          </a:blip>
          <a:stretch>
            <a:fillRect/>
          </a:stretch>
        </p:blipFill>
        <p:spPr>
          <a:xfrm>
            <a:off x="450950" y="1127756"/>
            <a:ext cx="3703400" cy="37034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9"/>
          <p:cNvSpPr txBox="1"/>
          <p:nvPr>
            <p:ph type="title"/>
          </p:nvPr>
        </p:nvSpPr>
        <p:spPr>
          <a:xfrm>
            <a:off x="311700" y="289900"/>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n" sz="3520"/>
              <a:t>Germ Theory: The Plot Twist That Changed Everything</a:t>
            </a:r>
            <a:endParaRPr sz="3520"/>
          </a:p>
        </p:txBody>
      </p:sp>
      <p:sp>
        <p:nvSpPr>
          <p:cNvPr id="98" name="Google Shape;98;p19"/>
          <p:cNvSpPr txBox="1"/>
          <p:nvPr>
            <p:ph idx="1" type="body"/>
          </p:nvPr>
        </p:nvSpPr>
        <p:spPr>
          <a:xfrm>
            <a:off x="311700" y="1465701"/>
            <a:ext cx="8520600" cy="3416400"/>
          </a:xfrm>
          <a:prstGeom prst="rect">
            <a:avLst/>
          </a:prstGeom>
        </p:spPr>
        <p:txBody>
          <a:bodyPr anchorCtr="0" anchor="t" bIns="91425" lIns="91425" spcFirstLastPara="1" rIns="91425" wrap="square" tIns="91425">
            <a:normAutofit fontScale="62500"/>
          </a:bodyPr>
          <a:lstStyle/>
          <a:p>
            <a:pPr indent="0" lvl="0" marL="0" rtl="0" algn="l">
              <a:spcBef>
                <a:spcPts val="0"/>
              </a:spcBef>
              <a:spcAft>
                <a:spcPts val="0"/>
              </a:spcAft>
              <a:buNone/>
            </a:pPr>
            <a:r>
              <a:rPr lang="en"/>
              <a:t>Old Theory</a:t>
            </a:r>
            <a:endParaRPr/>
          </a:p>
          <a:p>
            <a:pPr indent="-347663" lvl="0" marL="457200" rtl="0" algn="l">
              <a:spcBef>
                <a:spcPts val="1200"/>
              </a:spcBef>
              <a:spcAft>
                <a:spcPts val="0"/>
              </a:spcAft>
              <a:buSzPct val="100000"/>
              <a:buChar char="-"/>
            </a:pPr>
            <a:r>
              <a:rPr lang="en"/>
              <a:t>Bad smells cause disease. Miasma theory. Cute, wrong, but cute.</a:t>
            </a:r>
            <a:endParaRPr/>
          </a:p>
          <a:p>
            <a:pPr indent="0" lvl="0" marL="0" rtl="0" algn="l">
              <a:spcBef>
                <a:spcPts val="1200"/>
              </a:spcBef>
              <a:spcAft>
                <a:spcPts val="0"/>
              </a:spcAft>
              <a:buNone/>
            </a:pPr>
            <a:r>
              <a:rPr lang="en"/>
              <a:t>Pasteur's Bombshell</a:t>
            </a:r>
            <a:endParaRPr/>
          </a:p>
          <a:p>
            <a:pPr indent="-347663" lvl="0" marL="457200" rtl="0" algn="l">
              <a:spcBef>
                <a:spcPts val="1200"/>
              </a:spcBef>
              <a:spcAft>
                <a:spcPts val="0"/>
              </a:spcAft>
              <a:buSzPct val="100000"/>
              <a:buChar char="-"/>
            </a:pPr>
            <a:r>
              <a:rPr lang="en"/>
              <a:t>"Nah fam, it's invisible microbes causing all your problems."</a:t>
            </a:r>
            <a:endParaRPr/>
          </a:p>
          <a:p>
            <a:pPr indent="0" lvl="0" marL="0" rtl="0" algn="l">
              <a:spcBef>
                <a:spcPts val="1200"/>
              </a:spcBef>
              <a:spcAft>
                <a:spcPts val="0"/>
              </a:spcAft>
              <a:buNone/>
            </a:pPr>
            <a:r>
              <a:rPr lang="en"/>
              <a:t>Mind = Blown</a:t>
            </a:r>
            <a:endParaRPr/>
          </a:p>
          <a:p>
            <a:pPr indent="-347663" lvl="0" marL="457200" rtl="0" algn="l">
              <a:spcBef>
                <a:spcPts val="1200"/>
              </a:spcBef>
              <a:spcAft>
                <a:spcPts val="0"/>
              </a:spcAft>
              <a:buSzPct val="100000"/>
              <a:buChar char="-"/>
            </a:pPr>
            <a:r>
              <a:rPr lang="en"/>
              <a:t>Revolutionary. Disgusting. Effective. Welcome to modern microbiology.</a:t>
            </a:r>
            <a:endParaRPr/>
          </a:p>
          <a:p>
            <a:pPr indent="0" lvl="0" marL="0" rtl="0" algn="l">
              <a:spcBef>
                <a:spcPts val="1200"/>
              </a:spcBef>
              <a:spcAft>
                <a:spcPts val="12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0"/>
          <p:cNvSpPr/>
          <p:nvPr/>
        </p:nvSpPr>
        <p:spPr>
          <a:xfrm>
            <a:off x="856453" y="291578"/>
            <a:ext cx="7556400" cy="808800"/>
          </a:xfrm>
          <a:prstGeom prst="rect">
            <a:avLst/>
          </a:prstGeom>
          <a:noFill/>
          <a:ln>
            <a:noFill/>
          </a:ln>
        </p:spPr>
        <p:txBody>
          <a:bodyPr anchorCtr="0" anchor="t" bIns="0" lIns="0" spcFirstLastPara="1" rIns="0" wrap="square" tIns="0">
            <a:noAutofit/>
          </a:bodyPr>
          <a:lstStyle/>
          <a:p>
            <a:pPr indent="0" lvl="0" marL="0" marR="0" rtl="0" algn="l">
              <a:lnSpc>
                <a:spcPct val="124137"/>
              </a:lnSpc>
              <a:spcBef>
                <a:spcPts val="0"/>
              </a:spcBef>
              <a:spcAft>
                <a:spcPts val="0"/>
              </a:spcAft>
              <a:buClr>
                <a:srgbClr val="201B18"/>
              </a:buClr>
              <a:buSzPts val="2900"/>
              <a:buFont typeface="Platypi Medium"/>
              <a:buNone/>
            </a:pPr>
            <a:r>
              <a:rPr i="0" lang="en" sz="3500" u="none" cap="none" strike="noStrike">
                <a:solidFill>
                  <a:schemeClr val="lt1"/>
                </a:solidFill>
                <a:latin typeface="Georgia"/>
                <a:ea typeface="Georgia"/>
                <a:cs typeface="Georgia"/>
                <a:sym typeface="Georgia"/>
              </a:rPr>
              <a:t>The "Bright" Idea: Just Add Heat</a:t>
            </a:r>
            <a:endParaRPr i="0" sz="3500" u="none" cap="none" strike="noStrike">
              <a:solidFill>
                <a:schemeClr val="lt1"/>
              </a:solidFill>
              <a:latin typeface="Georgia"/>
              <a:ea typeface="Georgia"/>
              <a:cs typeface="Georgia"/>
              <a:sym typeface="Georgia"/>
            </a:endParaRPr>
          </a:p>
        </p:txBody>
      </p:sp>
      <p:sp>
        <p:nvSpPr>
          <p:cNvPr id="104" name="Google Shape;104;p20"/>
          <p:cNvSpPr/>
          <p:nvPr/>
        </p:nvSpPr>
        <p:spPr>
          <a:xfrm>
            <a:off x="856440" y="1035508"/>
            <a:ext cx="7556400" cy="15300"/>
          </a:xfrm>
          <a:prstGeom prst="rect">
            <a:avLst/>
          </a:prstGeom>
          <a:solidFill>
            <a:srgbClr val="3E25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solidFill>
                <a:schemeClr val="lt1"/>
              </a:solidFill>
              <a:latin typeface="Georgia"/>
              <a:ea typeface="Georgia"/>
              <a:cs typeface="Georgia"/>
              <a:sym typeface="Georgia"/>
            </a:endParaRPr>
          </a:p>
        </p:txBody>
      </p:sp>
      <p:sp>
        <p:nvSpPr>
          <p:cNvPr id="105" name="Google Shape;105;p20"/>
          <p:cNvSpPr/>
          <p:nvPr/>
        </p:nvSpPr>
        <p:spPr>
          <a:xfrm>
            <a:off x="856450" y="1749678"/>
            <a:ext cx="1842900" cy="460800"/>
          </a:xfrm>
          <a:prstGeom prst="rect">
            <a:avLst/>
          </a:prstGeom>
          <a:noFill/>
          <a:ln>
            <a:noFill/>
          </a:ln>
        </p:spPr>
        <p:txBody>
          <a:bodyPr anchorCtr="0" anchor="t" bIns="0" lIns="0" spcFirstLastPara="1" rIns="0" wrap="square" tIns="0">
            <a:noAutofit/>
          </a:bodyPr>
          <a:lstStyle/>
          <a:p>
            <a:pPr indent="0" lvl="0" marL="0" marR="0" rtl="0" algn="l">
              <a:lnSpc>
                <a:spcPct val="124137"/>
              </a:lnSpc>
              <a:spcBef>
                <a:spcPts val="0"/>
              </a:spcBef>
              <a:spcAft>
                <a:spcPts val="0"/>
              </a:spcAft>
              <a:buClr>
                <a:srgbClr val="504C49"/>
              </a:buClr>
              <a:buSzPts val="1450"/>
              <a:buFont typeface="Platypi Medium"/>
              <a:buNone/>
            </a:pPr>
            <a:r>
              <a:rPr i="0" lang="en" sz="3000" u="none" cap="none" strike="noStrike">
                <a:solidFill>
                  <a:schemeClr val="lt1"/>
                </a:solidFill>
                <a:latin typeface="Georgia"/>
                <a:ea typeface="Georgia"/>
                <a:cs typeface="Georgia"/>
                <a:sym typeface="Georgia"/>
              </a:rPr>
              <a:t>Heat it up</a:t>
            </a:r>
            <a:endParaRPr i="0" sz="3000" u="none" cap="none" strike="noStrike">
              <a:solidFill>
                <a:schemeClr val="lt1"/>
              </a:solidFill>
              <a:latin typeface="Georgia"/>
              <a:ea typeface="Georgia"/>
              <a:cs typeface="Georgia"/>
              <a:sym typeface="Georgia"/>
            </a:endParaRPr>
          </a:p>
        </p:txBody>
      </p:sp>
      <p:sp>
        <p:nvSpPr>
          <p:cNvPr id="106" name="Google Shape;106;p20"/>
          <p:cNvSpPr/>
          <p:nvPr/>
        </p:nvSpPr>
        <p:spPr>
          <a:xfrm>
            <a:off x="1701400" y="2422176"/>
            <a:ext cx="4056300" cy="460800"/>
          </a:xfrm>
          <a:prstGeom prst="rect">
            <a:avLst/>
          </a:prstGeom>
          <a:noFill/>
          <a:ln>
            <a:noFill/>
          </a:ln>
        </p:spPr>
        <p:txBody>
          <a:bodyPr anchorCtr="0" anchor="t" bIns="0" lIns="0" spcFirstLastPara="1" rIns="0" wrap="square" tIns="0">
            <a:noAutofit/>
          </a:bodyPr>
          <a:lstStyle/>
          <a:p>
            <a:pPr indent="0" lvl="0" marL="0" marR="0" rtl="0" algn="l">
              <a:lnSpc>
                <a:spcPct val="124137"/>
              </a:lnSpc>
              <a:spcBef>
                <a:spcPts val="0"/>
              </a:spcBef>
              <a:spcAft>
                <a:spcPts val="0"/>
              </a:spcAft>
              <a:buClr>
                <a:srgbClr val="504C49"/>
              </a:buClr>
              <a:buSzPts val="1450"/>
              <a:buFont typeface="Platypi Medium"/>
              <a:buNone/>
            </a:pPr>
            <a:r>
              <a:rPr i="0" lang="en" sz="3000" u="none" cap="none" strike="noStrike">
                <a:solidFill>
                  <a:schemeClr val="lt1"/>
                </a:solidFill>
                <a:latin typeface="Georgia"/>
                <a:ea typeface="Georgia"/>
                <a:cs typeface="Georgia"/>
                <a:sym typeface="Georgia"/>
              </a:rPr>
              <a:t>Kill the microbes</a:t>
            </a:r>
            <a:endParaRPr i="0" sz="3000" u="none" cap="none" strike="noStrike">
              <a:solidFill>
                <a:schemeClr val="lt1"/>
              </a:solidFill>
              <a:latin typeface="Georgia"/>
              <a:ea typeface="Georgia"/>
              <a:cs typeface="Georgia"/>
              <a:sym typeface="Georgia"/>
            </a:endParaRPr>
          </a:p>
        </p:txBody>
      </p:sp>
      <p:sp>
        <p:nvSpPr>
          <p:cNvPr id="107" name="Google Shape;107;p20"/>
          <p:cNvSpPr/>
          <p:nvPr/>
        </p:nvSpPr>
        <p:spPr>
          <a:xfrm>
            <a:off x="3358775" y="3094673"/>
            <a:ext cx="4962900" cy="460800"/>
          </a:xfrm>
          <a:prstGeom prst="rect">
            <a:avLst/>
          </a:prstGeom>
          <a:noFill/>
          <a:ln>
            <a:noFill/>
          </a:ln>
        </p:spPr>
        <p:txBody>
          <a:bodyPr anchorCtr="0" anchor="t" bIns="0" lIns="0" spcFirstLastPara="1" rIns="0" wrap="square" tIns="0">
            <a:noAutofit/>
          </a:bodyPr>
          <a:lstStyle/>
          <a:p>
            <a:pPr indent="0" lvl="0" marL="0" marR="0" rtl="0" algn="l">
              <a:lnSpc>
                <a:spcPct val="124137"/>
              </a:lnSpc>
              <a:spcBef>
                <a:spcPts val="0"/>
              </a:spcBef>
              <a:spcAft>
                <a:spcPts val="0"/>
              </a:spcAft>
              <a:buClr>
                <a:srgbClr val="504C49"/>
              </a:buClr>
              <a:buSzPts val="1450"/>
              <a:buFont typeface="Platypi Medium"/>
              <a:buNone/>
            </a:pPr>
            <a:r>
              <a:rPr i="0" lang="en" sz="3000" u="none" cap="none" strike="noStrike">
                <a:solidFill>
                  <a:schemeClr val="lt1"/>
                </a:solidFill>
                <a:latin typeface="Georgia"/>
                <a:ea typeface="Georgia"/>
                <a:cs typeface="Georgia"/>
                <a:sym typeface="Georgia"/>
              </a:rPr>
              <a:t>Cool it down</a:t>
            </a:r>
            <a:endParaRPr i="0" sz="3000" u="none" cap="none" strike="noStrike">
              <a:solidFill>
                <a:schemeClr val="lt1"/>
              </a:solidFill>
              <a:latin typeface="Georgia"/>
              <a:ea typeface="Georgia"/>
              <a:cs typeface="Georgia"/>
              <a:sym typeface="Georgia"/>
            </a:endParaRPr>
          </a:p>
        </p:txBody>
      </p:sp>
      <p:sp>
        <p:nvSpPr>
          <p:cNvPr id="108" name="Google Shape;108;p20"/>
          <p:cNvSpPr/>
          <p:nvPr/>
        </p:nvSpPr>
        <p:spPr>
          <a:xfrm>
            <a:off x="4858650" y="3767171"/>
            <a:ext cx="3932700" cy="460800"/>
          </a:xfrm>
          <a:prstGeom prst="rect">
            <a:avLst/>
          </a:prstGeom>
          <a:noFill/>
          <a:ln>
            <a:noFill/>
          </a:ln>
        </p:spPr>
        <p:txBody>
          <a:bodyPr anchorCtr="0" anchor="t" bIns="0" lIns="0" spcFirstLastPara="1" rIns="0" wrap="square" tIns="0">
            <a:noAutofit/>
          </a:bodyPr>
          <a:lstStyle/>
          <a:p>
            <a:pPr indent="0" lvl="0" marL="0" marR="0" rtl="0" algn="l">
              <a:lnSpc>
                <a:spcPct val="124137"/>
              </a:lnSpc>
              <a:spcBef>
                <a:spcPts val="0"/>
              </a:spcBef>
              <a:spcAft>
                <a:spcPts val="0"/>
              </a:spcAft>
              <a:buClr>
                <a:srgbClr val="504C49"/>
              </a:buClr>
              <a:buSzPts val="1450"/>
              <a:buFont typeface="Platypi Medium"/>
              <a:buNone/>
            </a:pPr>
            <a:r>
              <a:rPr i="0" lang="en" sz="3000" u="none" cap="none" strike="noStrike">
                <a:solidFill>
                  <a:schemeClr val="lt1"/>
                </a:solidFill>
                <a:latin typeface="Georgia"/>
                <a:ea typeface="Georgia"/>
                <a:cs typeface="Georgia"/>
                <a:sym typeface="Georgia"/>
              </a:rPr>
              <a:t>Profit (literally)</a:t>
            </a:r>
            <a:endParaRPr i="0" sz="3000" u="none" cap="none" strike="noStrike">
              <a:solidFill>
                <a:schemeClr val="lt1"/>
              </a:solidFill>
              <a:latin typeface="Georgia"/>
              <a:ea typeface="Georgia"/>
              <a:cs typeface="Georgia"/>
              <a:sym typeface="Georgia"/>
            </a:endParaRPr>
          </a:p>
        </p:txBody>
      </p:sp>
      <p:sp>
        <p:nvSpPr>
          <p:cNvPr id="109" name="Google Shape;109;p20"/>
          <p:cNvSpPr/>
          <p:nvPr/>
        </p:nvSpPr>
        <p:spPr>
          <a:xfrm>
            <a:off x="856440" y="5661324"/>
            <a:ext cx="7556400" cy="471600"/>
          </a:xfrm>
          <a:prstGeom prst="rect">
            <a:avLst/>
          </a:prstGeom>
          <a:noFill/>
          <a:ln>
            <a:noFill/>
          </a:ln>
        </p:spPr>
        <p:txBody>
          <a:bodyPr anchorCtr="0" anchor="t" bIns="0" lIns="0" spcFirstLastPara="1" rIns="0" wrap="square" tIns="0">
            <a:noAutofit/>
          </a:bodyPr>
          <a:lstStyle/>
          <a:p>
            <a:pPr indent="0" lvl="0" marL="0" marR="0" rtl="0" algn="l">
              <a:lnSpc>
                <a:spcPct val="160869"/>
              </a:lnSpc>
              <a:spcBef>
                <a:spcPts val="0"/>
              </a:spcBef>
              <a:spcAft>
                <a:spcPts val="0"/>
              </a:spcAft>
              <a:buClr>
                <a:srgbClr val="504C49"/>
              </a:buClr>
              <a:buSzPts val="1150"/>
              <a:buFont typeface="Source Serif 4"/>
              <a:buNone/>
            </a:pPr>
            <a:r>
              <a:rPr i="0" lang="en" sz="950" u="none" cap="none" strike="noStrike">
                <a:solidFill>
                  <a:schemeClr val="lt1"/>
                </a:solidFill>
                <a:latin typeface="Georgia"/>
                <a:ea typeface="Georgia"/>
                <a:cs typeface="Georgia"/>
                <a:sym typeface="Georgia"/>
              </a:rPr>
              <a:t>The process was elegantly simple: controlled heat for controlled death. It was basically a spa day for beverages—if spa days involved targeted microbial genocide.</a:t>
            </a:r>
            <a:endParaRPr i="0" sz="950" u="none" cap="none" strike="noStrike">
              <a:solidFill>
                <a:schemeClr val="lt1"/>
              </a:solidFill>
              <a:latin typeface="Georgia"/>
              <a:ea typeface="Georgia"/>
              <a:cs typeface="Georgia"/>
              <a:sym typeface="Georgi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1"/>
          <p:cNvSpPr txBox="1"/>
          <p:nvPr>
            <p:ph idx="4294967295" type="title"/>
          </p:nvPr>
        </p:nvSpPr>
        <p:spPr>
          <a:xfrm>
            <a:off x="311700" y="289900"/>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n" sz="3520"/>
              <a:t>Microbes Defeated, Brunch Officially Safe</a:t>
            </a:r>
            <a:endParaRPr sz="3520"/>
          </a:p>
          <a:p>
            <a:pPr indent="0" lvl="0" marL="0" rtl="0" algn="ctr">
              <a:spcBef>
                <a:spcPts val="0"/>
              </a:spcBef>
              <a:spcAft>
                <a:spcPts val="0"/>
              </a:spcAft>
              <a:buSzPts val="990"/>
              <a:buNone/>
            </a:pPr>
            <a:r>
              <a:t/>
            </a:r>
            <a:endParaRPr sz="3520"/>
          </a:p>
        </p:txBody>
      </p:sp>
      <p:pic>
        <p:nvPicPr>
          <p:cNvPr id="115" name="Google Shape;115;p21"/>
          <p:cNvPicPr preferRelativeResize="0"/>
          <p:nvPr/>
        </p:nvPicPr>
        <p:blipFill>
          <a:blip r:embed="rId3">
            <a:alphaModFix/>
          </a:blip>
          <a:stretch>
            <a:fillRect/>
          </a:stretch>
        </p:blipFill>
        <p:spPr>
          <a:xfrm>
            <a:off x="391953" y="1267725"/>
            <a:ext cx="4924652" cy="3282299"/>
          </a:xfrm>
          <a:prstGeom prst="rect">
            <a:avLst/>
          </a:prstGeom>
          <a:noFill/>
          <a:ln>
            <a:noFill/>
          </a:ln>
        </p:spPr>
      </p:pic>
      <p:pic>
        <p:nvPicPr>
          <p:cNvPr id="116" name="Google Shape;116;p21"/>
          <p:cNvPicPr preferRelativeResize="0"/>
          <p:nvPr/>
        </p:nvPicPr>
        <p:blipFill>
          <a:blip r:embed="rId4">
            <a:alphaModFix/>
          </a:blip>
          <a:stretch>
            <a:fillRect/>
          </a:stretch>
        </p:blipFill>
        <p:spPr>
          <a:xfrm>
            <a:off x="3095079" y="2638825"/>
            <a:ext cx="3522595" cy="2348397"/>
          </a:xfrm>
          <a:prstGeom prst="rect">
            <a:avLst/>
          </a:prstGeom>
          <a:noFill/>
          <a:ln>
            <a:noFill/>
          </a:ln>
        </p:spPr>
      </p:pic>
      <p:pic>
        <p:nvPicPr>
          <p:cNvPr id="117" name="Google Shape;117;p21"/>
          <p:cNvPicPr preferRelativeResize="0"/>
          <p:nvPr/>
        </p:nvPicPr>
        <p:blipFill>
          <a:blip r:embed="rId5">
            <a:alphaModFix/>
          </a:blip>
          <a:stretch>
            <a:fillRect/>
          </a:stretch>
        </p:blipFill>
        <p:spPr>
          <a:xfrm>
            <a:off x="4572000" y="1079800"/>
            <a:ext cx="4007100" cy="26714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pic>
        <p:nvPicPr>
          <p:cNvPr id="122" name="Google Shape;122;p22"/>
          <p:cNvPicPr preferRelativeResize="0"/>
          <p:nvPr/>
        </p:nvPicPr>
        <p:blipFill>
          <a:blip r:embed="rId3">
            <a:alphaModFix/>
          </a:blip>
          <a:stretch>
            <a:fillRect/>
          </a:stretch>
        </p:blipFill>
        <p:spPr>
          <a:xfrm>
            <a:off x="750103" y="1375650"/>
            <a:ext cx="2779201" cy="3401125"/>
          </a:xfrm>
          <a:prstGeom prst="rect">
            <a:avLst/>
          </a:prstGeom>
          <a:noFill/>
          <a:ln>
            <a:noFill/>
          </a:ln>
        </p:spPr>
      </p:pic>
      <p:sp>
        <p:nvSpPr>
          <p:cNvPr id="123" name="Google Shape;123;p22"/>
          <p:cNvSpPr txBox="1"/>
          <p:nvPr>
            <p:ph idx="4294967295" type="title"/>
          </p:nvPr>
        </p:nvSpPr>
        <p:spPr>
          <a:xfrm>
            <a:off x="311700" y="289900"/>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n" sz="3520"/>
              <a:t>More on Pasteurization</a:t>
            </a:r>
            <a:endParaRPr sz="3520"/>
          </a:p>
        </p:txBody>
      </p:sp>
      <p:sp>
        <p:nvSpPr>
          <p:cNvPr id="124" name="Google Shape;124;p22"/>
          <p:cNvSpPr txBox="1"/>
          <p:nvPr>
            <p:ph idx="4294967295" type="body"/>
          </p:nvPr>
        </p:nvSpPr>
        <p:spPr>
          <a:xfrm>
            <a:off x="4004475" y="1360376"/>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Wine:		1863	/ 140-165°F/60-74°C</a:t>
            </a:r>
            <a:endParaRPr/>
          </a:p>
          <a:p>
            <a:pPr indent="0" lvl="0" marL="0" rtl="0" algn="l">
              <a:spcBef>
                <a:spcPts val="1200"/>
              </a:spcBef>
              <a:spcAft>
                <a:spcPts val="0"/>
              </a:spcAft>
              <a:buNone/>
            </a:pPr>
            <a:r>
              <a:rPr lang="en"/>
              <a:t>Beer:		1870s	/ 160-162°F/71-72°C</a:t>
            </a:r>
            <a:endParaRPr/>
          </a:p>
          <a:p>
            <a:pPr indent="0" lvl="0" marL="0" rtl="0" algn="l">
              <a:spcBef>
                <a:spcPts val="1200"/>
              </a:spcBef>
              <a:spcAft>
                <a:spcPts val="0"/>
              </a:spcAft>
              <a:buNone/>
            </a:pPr>
            <a:r>
              <a:rPr lang="en"/>
              <a:t>Milk:		1880s	/ 161°F/72°C</a:t>
            </a:r>
            <a:endParaRPr/>
          </a:p>
          <a:p>
            <a:pPr indent="0" lvl="0" marL="0" rtl="0" algn="l">
              <a:spcBef>
                <a:spcPts val="1200"/>
              </a:spcBef>
              <a:spcAft>
                <a:spcPts val="0"/>
              </a:spcAft>
              <a:buNone/>
            </a:pPr>
            <a:r>
              <a:rPr lang="en"/>
              <a:t>…</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Heated to these temps for just a short time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3"/>
          <p:cNvSpPr txBox="1"/>
          <p:nvPr>
            <p:ph idx="4294967295" type="title"/>
          </p:nvPr>
        </p:nvSpPr>
        <p:spPr>
          <a:xfrm>
            <a:off x="311700" y="289900"/>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n" sz="3520"/>
              <a:t>Microbes Defeated, Brunch Officially Safe</a:t>
            </a:r>
            <a:endParaRPr sz="3520"/>
          </a:p>
          <a:p>
            <a:pPr indent="0" lvl="0" marL="0" rtl="0" algn="ctr">
              <a:spcBef>
                <a:spcPts val="0"/>
              </a:spcBef>
              <a:spcAft>
                <a:spcPts val="0"/>
              </a:spcAft>
              <a:buSzPts val="990"/>
              <a:buNone/>
            </a:pPr>
            <a:r>
              <a:t/>
            </a:r>
            <a:endParaRPr sz="3520"/>
          </a:p>
        </p:txBody>
      </p:sp>
      <p:sp>
        <p:nvSpPr>
          <p:cNvPr id="130" name="Google Shape;130;p23"/>
          <p:cNvSpPr/>
          <p:nvPr/>
        </p:nvSpPr>
        <p:spPr>
          <a:xfrm>
            <a:off x="793740" y="1798143"/>
            <a:ext cx="2396100" cy="4866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04C49"/>
              </a:buClr>
              <a:buSzPts val="3800"/>
              <a:buFont typeface="Platypi Medium"/>
              <a:buNone/>
            </a:pPr>
            <a:r>
              <a:rPr i="0" lang="en" sz="4000" u="none" cap="none" strike="noStrike">
                <a:solidFill>
                  <a:schemeClr val="lt1"/>
                </a:solidFill>
                <a:latin typeface="Georgia"/>
                <a:ea typeface="Georgia"/>
                <a:cs typeface="Georgia"/>
                <a:sym typeface="Georgia"/>
              </a:rPr>
              <a:t>90%</a:t>
            </a:r>
            <a:endParaRPr i="0" sz="4000" u="none" cap="none" strike="noStrike">
              <a:solidFill>
                <a:schemeClr val="lt1"/>
              </a:solidFill>
              <a:latin typeface="Georgia"/>
              <a:ea typeface="Georgia"/>
              <a:cs typeface="Georgia"/>
              <a:sym typeface="Georgia"/>
            </a:endParaRPr>
          </a:p>
        </p:txBody>
      </p:sp>
      <p:sp>
        <p:nvSpPr>
          <p:cNvPr id="131" name="Google Shape;131;p23"/>
          <p:cNvSpPr/>
          <p:nvPr/>
        </p:nvSpPr>
        <p:spPr>
          <a:xfrm>
            <a:off x="519300" y="2617200"/>
            <a:ext cx="2854500" cy="230400"/>
          </a:xfrm>
          <a:prstGeom prst="rect">
            <a:avLst/>
          </a:prstGeom>
          <a:noFill/>
          <a:ln>
            <a:noFill/>
          </a:ln>
        </p:spPr>
        <p:txBody>
          <a:bodyPr anchorCtr="0" anchor="t" bIns="0" lIns="0" spcFirstLastPara="1" rIns="0" wrap="square" tIns="0">
            <a:noAutofit/>
          </a:bodyPr>
          <a:lstStyle/>
          <a:p>
            <a:pPr indent="0" lvl="0" marL="0" marR="0" rtl="0" algn="ctr">
              <a:lnSpc>
                <a:spcPct val="124137"/>
              </a:lnSpc>
              <a:spcBef>
                <a:spcPts val="0"/>
              </a:spcBef>
              <a:spcAft>
                <a:spcPts val="0"/>
              </a:spcAft>
              <a:buClr>
                <a:srgbClr val="504C49"/>
              </a:buClr>
              <a:buSzPts val="1450"/>
              <a:buFont typeface="Platypi Medium"/>
              <a:buNone/>
            </a:pPr>
            <a:r>
              <a:rPr i="0" lang="en" sz="1650" u="none" cap="none" strike="noStrike">
                <a:solidFill>
                  <a:schemeClr val="lt1"/>
                </a:solidFill>
                <a:latin typeface="Georgia"/>
                <a:ea typeface="Georgia"/>
                <a:cs typeface="Georgia"/>
                <a:sym typeface="Georgia"/>
              </a:rPr>
              <a:t>Drop in Foodborne Illness</a:t>
            </a:r>
            <a:endParaRPr i="0" sz="1650" u="none" cap="none" strike="noStrike">
              <a:solidFill>
                <a:schemeClr val="lt1"/>
              </a:solidFill>
              <a:latin typeface="Georgia"/>
              <a:ea typeface="Georgia"/>
              <a:cs typeface="Georgia"/>
              <a:sym typeface="Georgia"/>
            </a:endParaRPr>
          </a:p>
        </p:txBody>
      </p:sp>
      <p:sp>
        <p:nvSpPr>
          <p:cNvPr id="132" name="Google Shape;132;p23"/>
          <p:cNvSpPr/>
          <p:nvPr/>
        </p:nvSpPr>
        <p:spPr>
          <a:xfrm>
            <a:off x="3373943" y="1798143"/>
            <a:ext cx="2396100" cy="4866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04C49"/>
              </a:buClr>
              <a:buSzPts val="3800"/>
              <a:buFont typeface="Platypi Medium"/>
              <a:buNone/>
            </a:pPr>
            <a:r>
              <a:rPr i="0" lang="en" sz="4000" u="none" cap="none" strike="noStrike">
                <a:solidFill>
                  <a:schemeClr val="lt1"/>
                </a:solidFill>
                <a:latin typeface="Georgia"/>
                <a:ea typeface="Georgia"/>
                <a:cs typeface="Georgia"/>
                <a:sym typeface="Georgia"/>
              </a:rPr>
              <a:t>10X</a:t>
            </a:r>
            <a:endParaRPr i="0" sz="4000" u="none" cap="none" strike="noStrike">
              <a:solidFill>
                <a:schemeClr val="lt1"/>
              </a:solidFill>
              <a:latin typeface="Georgia"/>
              <a:ea typeface="Georgia"/>
              <a:cs typeface="Georgia"/>
              <a:sym typeface="Georgia"/>
            </a:endParaRPr>
          </a:p>
        </p:txBody>
      </p:sp>
      <p:sp>
        <p:nvSpPr>
          <p:cNvPr id="133" name="Google Shape;133;p23"/>
          <p:cNvSpPr/>
          <p:nvPr/>
        </p:nvSpPr>
        <p:spPr>
          <a:xfrm>
            <a:off x="3650406" y="2617192"/>
            <a:ext cx="1842900" cy="230400"/>
          </a:xfrm>
          <a:prstGeom prst="rect">
            <a:avLst/>
          </a:prstGeom>
          <a:noFill/>
          <a:ln>
            <a:noFill/>
          </a:ln>
        </p:spPr>
        <p:txBody>
          <a:bodyPr anchorCtr="0" anchor="t" bIns="0" lIns="0" spcFirstLastPara="1" rIns="0" wrap="square" tIns="0">
            <a:noAutofit/>
          </a:bodyPr>
          <a:lstStyle/>
          <a:p>
            <a:pPr indent="0" lvl="0" marL="0" marR="0" rtl="0" algn="ctr">
              <a:lnSpc>
                <a:spcPct val="124137"/>
              </a:lnSpc>
              <a:spcBef>
                <a:spcPts val="0"/>
              </a:spcBef>
              <a:spcAft>
                <a:spcPts val="0"/>
              </a:spcAft>
              <a:buClr>
                <a:srgbClr val="504C49"/>
              </a:buClr>
              <a:buSzPts val="1450"/>
              <a:buFont typeface="Platypi Medium"/>
              <a:buNone/>
            </a:pPr>
            <a:r>
              <a:rPr i="0" lang="en" sz="1650" u="none" cap="none" strike="noStrike">
                <a:solidFill>
                  <a:schemeClr val="lt1"/>
                </a:solidFill>
                <a:latin typeface="Georgia"/>
                <a:ea typeface="Georgia"/>
                <a:cs typeface="Georgia"/>
                <a:sym typeface="Georgia"/>
              </a:rPr>
              <a:t>Trade Explosion</a:t>
            </a:r>
            <a:endParaRPr i="0" sz="1650" u="none" cap="none" strike="noStrike">
              <a:solidFill>
                <a:schemeClr val="lt1"/>
              </a:solidFill>
              <a:latin typeface="Georgia"/>
              <a:ea typeface="Georgia"/>
              <a:cs typeface="Georgia"/>
              <a:sym typeface="Georgia"/>
            </a:endParaRPr>
          </a:p>
        </p:txBody>
      </p:sp>
      <p:sp>
        <p:nvSpPr>
          <p:cNvPr id="134" name="Google Shape;134;p23"/>
          <p:cNvSpPr/>
          <p:nvPr/>
        </p:nvSpPr>
        <p:spPr>
          <a:xfrm>
            <a:off x="5954147" y="1798143"/>
            <a:ext cx="2396100" cy="4866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04C49"/>
              </a:buClr>
              <a:buSzPts val="3800"/>
              <a:buFont typeface="Platypi Medium"/>
              <a:buNone/>
            </a:pPr>
            <a:r>
              <a:rPr i="0" lang="en" sz="4000" u="none" cap="none" strike="noStrike">
                <a:solidFill>
                  <a:schemeClr val="lt1"/>
                </a:solidFill>
                <a:latin typeface="Georgia"/>
                <a:ea typeface="Georgia"/>
                <a:cs typeface="Georgia"/>
                <a:sym typeface="Georgia"/>
              </a:rPr>
              <a:t>100%</a:t>
            </a:r>
            <a:endParaRPr i="0" sz="4000" u="none" cap="none" strike="noStrike">
              <a:solidFill>
                <a:schemeClr val="lt1"/>
              </a:solidFill>
              <a:latin typeface="Georgia"/>
              <a:ea typeface="Georgia"/>
              <a:cs typeface="Georgia"/>
              <a:sym typeface="Georgia"/>
            </a:endParaRPr>
          </a:p>
        </p:txBody>
      </p:sp>
      <p:sp>
        <p:nvSpPr>
          <p:cNvPr id="135" name="Google Shape;135;p23"/>
          <p:cNvSpPr/>
          <p:nvPr/>
        </p:nvSpPr>
        <p:spPr>
          <a:xfrm>
            <a:off x="6041975" y="2617200"/>
            <a:ext cx="2217300" cy="267900"/>
          </a:xfrm>
          <a:prstGeom prst="rect">
            <a:avLst/>
          </a:prstGeom>
          <a:noFill/>
          <a:ln>
            <a:noFill/>
          </a:ln>
        </p:spPr>
        <p:txBody>
          <a:bodyPr anchorCtr="0" anchor="t" bIns="0" lIns="0" spcFirstLastPara="1" rIns="0" wrap="square" tIns="0">
            <a:noAutofit/>
          </a:bodyPr>
          <a:lstStyle/>
          <a:p>
            <a:pPr indent="0" lvl="0" marL="0" marR="0" rtl="0" algn="ctr">
              <a:lnSpc>
                <a:spcPct val="124137"/>
              </a:lnSpc>
              <a:spcBef>
                <a:spcPts val="0"/>
              </a:spcBef>
              <a:spcAft>
                <a:spcPts val="0"/>
              </a:spcAft>
              <a:buClr>
                <a:srgbClr val="504C49"/>
              </a:buClr>
              <a:buSzPts val="1450"/>
              <a:buFont typeface="Platypi Medium"/>
              <a:buNone/>
            </a:pPr>
            <a:r>
              <a:rPr i="0" lang="en" sz="1650" u="none" cap="none" strike="noStrike">
                <a:solidFill>
                  <a:schemeClr val="lt1"/>
                </a:solidFill>
                <a:latin typeface="Georgia"/>
                <a:ea typeface="Georgia"/>
                <a:cs typeface="Georgia"/>
                <a:sym typeface="Georgia"/>
              </a:rPr>
              <a:t>Brunch Success Rate</a:t>
            </a:r>
            <a:endParaRPr i="0" sz="1650" u="none" cap="none" strike="noStrike">
              <a:solidFill>
                <a:schemeClr val="lt1"/>
              </a:solidFill>
              <a:latin typeface="Georgia"/>
              <a:ea typeface="Georgia"/>
              <a:cs typeface="Georgia"/>
              <a:sym typeface="Georgia"/>
            </a:endParaRPr>
          </a:p>
        </p:txBody>
      </p:sp>
      <p:sp>
        <p:nvSpPr>
          <p:cNvPr id="136" name="Google Shape;136;p23"/>
          <p:cNvSpPr txBox="1"/>
          <p:nvPr>
            <p:ph idx="4294967295" type="subTitle"/>
          </p:nvPr>
        </p:nvSpPr>
        <p:spPr>
          <a:xfrm>
            <a:off x="311550" y="979500"/>
            <a:ext cx="8520600" cy="1007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What Happened Next …</a:t>
            </a:r>
            <a:endParaRPr sz="19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020"/>
              <a:t>More Pasteur: He who invented vaccines</a:t>
            </a:r>
            <a:endParaRPr sz="3020"/>
          </a:p>
          <a:p>
            <a:pPr indent="0" lvl="0" marL="0" rtl="0" algn="l">
              <a:spcBef>
                <a:spcPts val="0"/>
              </a:spcBef>
              <a:spcAft>
                <a:spcPts val="0"/>
              </a:spcAft>
              <a:buSzPts val="990"/>
              <a:buNone/>
            </a:pPr>
            <a:r>
              <a:t/>
            </a:r>
            <a:endParaRPr sz="3020"/>
          </a:p>
        </p:txBody>
      </p:sp>
      <p:sp>
        <p:nvSpPr>
          <p:cNvPr id="142" name="Google Shape;142;p24"/>
          <p:cNvSpPr txBox="1"/>
          <p:nvPr/>
        </p:nvSpPr>
        <p:spPr>
          <a:xfrm>
            <a:off x="311701" y="2233275"/>
            <a:ext cx="29607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solidFill>
                  <a:schemeClr val="lt1"/>
                </a:solidFill>
                <a:latin typeface="Georgia"/>
                <a:ea typeface="Georgia"/>
                <a:cs typeface="Georgia"/>
                <a:sym typeface="Georgia"/>
              </a:rPr>
              <a:t>1881 - Successful Demonstration of Anthrax vaccine</a:t>
            </a:r>
            <a:endParaRPr sz="2000">
              <a:solidFill>
                <a:schemeClr val="lt1"/>
              </a:solidFill>
              <a:latin typeface="Georgia"/>
              <a:ea typeface="Georgia"/>
              <a:cs typeface="Georgia"/>
              <a:sym typeface="Georgia"/>
            </a:endParaRPr>
          </a:p>
        </p:txBody>
      </p:sp>
      <p:pic>
        <p:nvPicPr>
          <p:cNvPr id="143" name="Google Shape;143;p24"/>
          <p:cNvPicPr preferRelativeResize="0"/>
          <p:nvPr/>
        </p:nvPicPr>
        <p:blipFill>
          <a:blip r:embed="rId3">
            <a:alphaModFix/>
          </a:blip>
          <a:stretch>
            <a:fillRect/>
          </a:stretch>
        </p:blipFill>
        <p:spPr>
          <a:xfrm>
            <a:off x="3272397" y="1116625"/>
            <a:ext cx="5649424" cy="3766276"/>
          </a:xfrm>
          <a:prstGeom prst="rect">
            <a:avLst/>
          </a:prstGeom>
          <a:noFill/>
          <a:ln>
            <a:noFill/>
          </a:ln>
        </p:spPr>
      </p:pic>
      <p:sp>
        <p:nvSpPr>
          <p:cNvPr id="144" name="Google Shape;144;p24"/>
          <p:cNvSpPr txBox="1"/>
          <p:nvPr/>
        </p:nvSpPr>
        <p:spPr>
          <a:xfrm>
            <a:off x="311703" y="3639664"/>
            <a:ext cx="23817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solidFill>
                  <a:schemeClr val="lt1"/>
                </a:solidFill>
                <a:latin typeface="Georgia"/>
                <a:ea typeface="Georgia"/>
                <a:cs typeface="Georgia"/>
                <a:sym typeface="Georgia"/>
              </a:rPr>
              <a:t>1885 - Successful Demonstration of Rabies vaccine</a:t>
            </a:r>
            <a:endParaRPr sz="2000">
              <a:solidFill>
                <a:schemeClr val="lt1"/>
              </a:solidFill>
              <a:latin typeface="Georgia"/>
              <a:ea typeface="Georgia"/>
              <a:cs typeface="Georgia"/>
              <a:sym typeface="Georgia"/>
            </a:endParaRPr>
          </a:p>
        </p:txBody>
      </p:sp>
      <p:sp>
        <p:nvSpPr>
          <p:cNvPr id="145" name="Google Shape;145;p24"/>
          <p:cNvSpPr txBox="1"/>
          <p:nvPr/>
        </p:nvSpPr>
        <p:spPr>
          <a:xfrm>
            <a:off x="312226" y="1190925"/>
            <a:ext cx="29607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solidFill>
                  <a:schemeClr val="lt1"/>
                </a:solidFill>
                <a:latin typeface="Georgia"/>
                <a:ea typeface="Georgia"/>
                <a:cs typeface="Georgia"/>
                <a:sym typeface="Georgia"/>
              </a:rPr>
              <a:t>1879 - Chicken Cholera Vaccine (accidental)</a:t>
            </a:r>
            <a:endParaRPr sz="2000">
              <a:solidFill>
                <a:schemeClr val="lt1"/>
              </a:solidFill>
              <a:latin typeface="Georgia"/>
              <a:ea typeface="Georgia"/>
              <a:cs typeface="Georgia"/>
              <a:sym typeface="Georgia"/>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5"/>
          <p:cNvSpPr txBox="1"/>
          <p:nvPr>
            <p:ph type="title"/>
          </p:nvPr>
        </p:nvSpPr>
        <p:spPr>
          <a:xfrm>
            <a:off x="311700" y="2899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Louis Pasteur: Hero or PR King?</a:t>
            </a:r>
            <a:endParaRPr/>
          </a:p>
        </p:txBody>
      </p:sp>
      <p:sp>
        <p:nvSpPr>
          <p:cNvPr id="151" name="Google Shape;151;p25"/>
          <p:cNvSpPr txBox="1"/>
          <p:nvPr>
            <p:ph idx="1" type="body"/>
          </p:nvPr>
        </p:nvSpPr>
        <p:spPr>
          <a:xfrm>
            <a:off x="311700" y="1152475"/>
            <a:ext cx="4732800" cy="34164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523"/>
              <a:buNone/>
            </a:pPr>
            <a:r>
              <a:rPr lang="en" sz="2000"/>
              <a:t>😇 The Angel of Science</a:t>
            </a:r>
            <a:endParaRPr sz="2000"/>
          </a:p>
          <a:p>
            <a:pPr indent="-355600" lvl="0" marL="457200" rtl="0" algn="l">
              <a:lnSpc>
                <a:spcPct val="150000"/>
              </a:lnSpc>
              <a:spcBef>
                <a:spcPts val="1200"/>
              </a:spcBef>
              <a:spcAft>
                <a:spcPts val="0"/>
              </a:spcAft>
              <a:buSzPts val="2000"/>
              <a:buChar char="●"/>
            </a:pPr>
            <a:r>
              <a:rPr lang="en" sz="2000"/>
              <a:t>Saved countless lives through pasteurization</a:t>
            </a:r>
            <a:endParaRPr sz="2000"/>
          </a:p>
          <a:p>
            <a:pPr indent="-355600" lvl="0" marL="457200" rtl="0" algn="l">
              <a:lnSpc>
                <a:spcPct val="150000"/>
              </a:lnSpc>
              <a:spcBef>
                <a:spcPts val="0"/>
              </a:spcBef>
              <a:spcAft>
                <a:spcPts val="0"/>
              </a:spcAft>
              <a:buSzPts val="2000"/>
              <a:buChar char="●"/>
            </a:pPr>
            <a:r>
              <a:rPr lang="en" sz="2000"/>
              <a:t>Revolutionized medicine with germ theory</a:t>
            </a:r>
            <a:endParaRPr sz="2000"/>
          </a:p>
          <a:p>
            <a:pPr indent="-355600" lvl="0" marL="457200" rtl="0" algn="l">
              <a:lnSpc>
                <a:spcPct val="150000"/>
              </a:lnSpc>
              <a:spcBef>
                <a:spcPts val="0"/>
              </a:spcBef>
              <a:spcAft>
                <a:spcPts val="0"/>
              </a:spcAft>
              <a:buSzPts val="2000"/>
              <a:buChar char="●"/>
            </a:pPr>
            <a:r>
              <a:rPr lang="en" sz="2000"/>
              <a:t>Advanced vaccination research</a:t>
            </a:r>
            <a:endParaRPr sz="2000"/>
          </a:p>
          <a:p>
            <a:pPr indent="-355600" lvl="0" marL="457200" rtl="0" algn="l">
              <a:lnSpc>
                <a:spcPct val="150000"/>
              </a:lnSpc>
              <a:spcBef>
                <a:spcPts val="0"/>
              </a:spcBef>
              <a:spcAft>
                <a:spcPts val="0"/>
              </a:spcAft>
              <a:buSzPts val="2000"/>
              <a:buChar char="●"/>
            </a:pPr>
            <a:r>
              <a:rPr lang="en" sz="2000"/>
              <a:t>Protected global food supplies</a:t>
            </a:r>
            <a:endParaRPr sz="2000"/>
          </a:p>
          <a:p>
            <a:pPr indent="-355600" lvl="0" marL="457200" rtl="0" algn="l">
              <a:lnSpc>
                <a:spcPct val="150000"/>
              </a:lnSpc>
              <a:spcBef>
                <a:spcPts val="0"/>
              </a:spcBef>
              <a:spcAft>
                <a:spcPts val="0"/>
              </a:spcAft>
              <a:buSzPts val="2000"/>
              <a:buChar char="●"/>
            </a:pPr>
            <a:r>
              <a:rPr lang="en" sz="2000"/>
              <a:t>Made brunch mathematically safer</a:t>
            </a:r>
            <a:endParaRPr sz="2000"/>
          </a:p>
          <a:p>
            <a:pPr indent="0" lvl="0" marL="0" rtl="0" algn="l">
              <a:spcBef>
                <a:spcPts val="1200"/>
              </a:spcBef>
              <a:spcAft>
                <a:spcPts val="1200"/>
              </a:spcAft>
              <a:buSzPts val="523"/>
              <a:buNone/>
            </a:pPr>
            <a:r>
              <a:t/>
            </a:r>
            <a:endParaRPr sz="1800"/>
          </a:p>
        </p:txBody>
      </p:sp>
      <p:pic>
        <p:nvPicPr>
          <p:cNvPr id="152" name="Google Shape;152;p25"/>
          <p:cNvPicPr preferRelativeResize="0"/>
          <p:nvPr/>
        </p:nvPicPr>
        <p:blipFill>
          <a:blip r:embed="rId3">
            <a:alphaModFix/>
          </a:blip>
          <a:stretch>
            <a:fillRect/>
          </a:stretch>
        </p:blipFill>
        <p:spPr>
          <a:xfrm>
            <a:off x="5196900" y="1015000"/>
            <a:ext cx="3794701" cy="379470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6"/>
          <p:cNvSpPr txBox="1"/>
          <p:nvPr>
            <p:ph type="title"/>
          </p:nvPr>
        </p:nvSpPr>
        <p:spPr>
          <a:xfrm>
            <a:off x="311700" y="2899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Louis Pasteur: Hero or PR King?</a:t>
            </a:r>
            <a:endParaRPr/>
          </a:p>
        </p:txBody>
      </p:sp>
      <p:sp>
        <p:nvSpPr>
          <p:cNvPr id="158" name="Google Shape;158;p26"/>
          <p:cNvSpPr txBox="1"/>
          <p:nvPr>
            <p:ph idx="1" type="body"/>
          </p:nvPr>
        </p:nvSpPr>
        <p:spPr>
          <a:xfrm>
            <a:off x="4103400" y="1119500"/>
            <a:ext cx="5040600" cy="34164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2000"/>
              <a:t>😈 The Fame-Chasing Diva</a:t>
            </a:r>
            <a:endParaRPr sz="2000"/>
          </a:p>
          <a:p>
            <a:pPr indent="-355600" lvl="0" marL="457200" rtl="0" algn="l">
              <a:lnSpc>
                <a:spcPct val="150000"/>
              </a:lnSpc>
              <a:spcBef>
                <a:spcPts val="1200"/>
              </a:spcBef>
              <a:spcAft>
                <a:spcPts val="0"/>
              </a:spcAft>
              <a:buSzPts val="2000"/>
              <a:buChar char="●"/>
            </a:pPr>
            <a:r>
              <a:rPr lang="en" sz="2000"/>
              <a:t>Ruthlessly competitive with scientific rivals</a:t>
            </a:r>
            <a:endParaRPr sz="2000"/>
          </a:p>
          <a:p>
            <a:pPr indent="-355600" lvl="0" marL="457200" rtl="0" algn="l">
              <a:lnSpc>
                <a:spcPct val="150000"/>
              </a:lnSpc>
              <a:spcBef>
                <a:spcPts val="0"/>
              </a:spcBef>
              <a:spcAft>
                <a:spcPts val="0"/>
              </a:spcAft>
              <a:buSzPts val="2000"/>
              <a:buChar char="●"/>
            </a:pPr>
            <a:r>
              <a:rPr lang="en" sz="2000"/>
              <a:t>Fought competitors like science was WWE</a:t>
            </a:r>
            <a:endParaRPr sz="2000"/>
          </a:p>
          <a:p>
            <a:pPr indent="-355600" lvl="0" marL="457200" rtl="0" algn="l">
              <a:lnSpc>
                <a:spcPct val="150000"/>
              </a:lnSpc>
              <a:spcBef>
                <a:spcPts val="0"/>
              </a:spcBef>
              <a:spcAft>
                <a:spcPts val="0"/>
              </a:spcAft>
              <a:buSzPts val="2000"/>
              <a:buChar char="●"/>
            </a:pPr>
            <a:r>
              <a:rPr lang="en" sz="2000"/>
              <a:t>Obsessed with his own legacy</a:t>
            </a:r>
            <a:endParaRPr sz="2000"/>
          </a:p>
          <a:p>
            <a:pPr indent="-355600" lvl="0" marL="457200" rtl="0" algn="l">
              <a:lnSpc>
                <a:spcPct val="150000"/>
              </a:lnSpc>
              <a:spcBef>
                <a:spcPts val="0"/>
              </a:spcBef>
              <a:spcAft>
                <a:spcPts val="0"/>
              </a:spcAft>
              <a:buSzPts val="2000"/>
              <a:buChar char="●"/>
            </a:pPr>
            <a:r>
              <a:rPr lang="en" sz="2000"/>
              <a:t>Not exactly humble about his achievements</a:t>
            </a:r>
            <a:endParaRPr sz="2000"/>
          </a:p>
        </p:txBody>
      </p:sp>
      <p:pic>
        <p:nvPicPr>
          <p:cNvPr id="159" name="Google Shape;159;p26"/>
          <p:cNvPicPr preferRelativeResize="0"/>
          <p:nvPr/>
        </p:nvPicPr>
        <p:blipFill>
          <a:blip r:embed="rId3">
            <a:alphaModFix/>
          </a:blip>
          <a:stretch>
            <a:fillRect/>
          </a:stretch>
        </p:blipFill>
        <p:spPr>
          <a:xfrm>
            <a:off x="152400" y="1015000"/>
            <a:ext cx="3798599" cy="379859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pic>
        <p:nvPicPr>
          <p:cNvPr id="164" name="Google Shape;164;p27" title="Curiosity Guild (3).jpg"/>
          <p:cNvPicPr preferRelativeResize="0"/>
          <p:nvPr/>
        </p:nvPicPr>
        <p:blipFill>
          <a:blip r:embed="rId3">
            <a:alphaModFix/>
          </a:blip>
          <a:stretch>
            <a:fillRect/>
          </a:stretch>
        </p:blipFill>
        <p:spPr>
          <a:xfrm>
            <a:off x="6868325" y="2882525"/>
            <a:ext cx="2080450" cy="2080450"/>
          </a:xfrm>
          <a:prstGeom prst="rect">
            <a:avLst/>
          </a:prstGeom>
          <a:noFill/>
          <a:ln>
            <a:noFill/>
          </a:ln>
        </p:spPr>
      </p:pic>
      <p:sp>
        <p:nvSpPr>
          <p:cNvPr id="165" name="Google Shape;165;p27"/>
          <p:cNvSpPr txBox="1"/>
          <p:nvPr>
            <p:ph idx="4294967295" type="subTitle"/>
          </p:nvPr>
        </p:nvSpPr>
        <p:spPr>
          <a:xfrm>
            <a:off x="311700" y="1028955"/>
            <a:ext cx="8520600" cy="1745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300"/>
              <a:t>He accidentally saved the world while trying to fix France's wine problem.</a:t>
            </a:r>
            <a:endParaRPr sz="3300"/>
          </a:p>
          <a:p>
            <a:pPr indent="0" lvl="0" marL="0" rtl="0" algn="ctr">
              <a:spcBef>
                <a:spcPts val="1200"/>
              </a:spcBef>
              <a:spcAft>
                <a:spcPts val="1200"/>
              </a:spcAft>
              <a:buNone/>
            </a:pPr>
            <a:r>
              <a:rPr lang="en" sz="3300"/>
              <a:t>Wine, Beer, Milk, Germs, Microbes, Vaccines</a:t>
            </a:r>
            <a:endParaRPr sz="3300"/>
          </a:p>
        </p:txBody>
      </p:sp>
      <p:sp>
        <p:nvSpPr>
          <p:cNvPr id="166" name="Google Shape;166;p27"/>
          <p:cNvSpPr txBox="1"/>
          <p:nvPr>
            <p:ph idx="4294967295" type="ctrTitle"/>
          </p:nvPr>
        </p:nvSpPr>
        <p:spPr>
          <a:xfrm>
            <a:off x="311700" y="140127"/>
            <a:ext cx="8520600" cy="12228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5300"/>
              <a:t>Louis Pasteur</a:t>
            </a:r>
            <a:endParaRPr b="1" sz="53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70" name="Shape 170"/>
        <p:cNvGrpSpPr/>
        <p:nvPr/>
      </p:nvGrpSpPr>
      <p:grpSpPr>
        <a:xfrm>
          <a:off x="0" y="0"/>
          <a:ext cx="0" cy="0"/>
          <a:chOff x="0" y="0"/>
          <a:chExt cx="0" cy="0"/>
        </a:xfrm>
      </p:grpSpPr>
      <p:sp>
        <p:nvSpPr>
          <p:cNvPr id="171" name="Google Shape;171;p2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020"/>
              <a:t>More Pasteur: That Time Vacation Created Vaccines</a:t>
            </a:r>
            <a:endParaRPr sz="3020"/>
          </a:p>
          <a:p>
            <a:pPr indent="0" lvl="0" marL="0" rtl="0" algn="l">
              <a:spcBef>
                <a:spcPts val="0"/>
              </a:spcBef>
              <a:spcAft>
                <a:spcPts val="0"/>
              </a:spcAft>
              <a:buSzPts val="990"/>
              <a:buNone/>
            </a:pPr>
            <a:r>
              <a:t/>
            </a:r>
            <a:endParaRPr sz="3020"/>
          </a:p>
          <a:p>
            <a:pPr indent="0" lvl="0" marL="0" rtl="0" algn="l">
              <a:spcBef>
                <a:spcPts val="0"/>
              </a:spcBef>
              <a:spcAft>
                <a:spcPts val="0"/>
              </a:spcAft>
              <a:buSzPts val="990"/>
              <a:buNone/>
            </a:pPr>
            <a:r>
              <a:t/>
            </a:r>
            <a:endParaRPr sz="3020"/>
          </a:p>
        </p:txBody>
      </p:sp>
      <p:sp>
        <p:nvSpPr>
          <p:cNvPr id="172" name="Google Shape;172;p28"/>
          <p:cNvSpPr txBox="1"/>
          <p:nvPr/>
        </p:nvSpPr>
        <p:spPr>
          <a:xfrm>
            <a:off x="311700" y="1491950"/>
            <a:ext cx="5483100" cy="2955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000">
              <a:solidFill>
                <a:schemeClr val="lt1"/>
              </a:solidFill>
            </a:endParaRPr>
          </a:p>
          <a:p>
            <a:pPr indent="0" lvl="0" marL="0" rtl="0" algn="l">
              <a:spcBef>
                <a:spcPts val="0"/>
              </a:spcBef>
              <a:spcAft>
                <a:spcPts val="0"/>
              </a:spcAft>
              <a:buNone/>
            </a:pPr>
            <a:r>
              <a:rPr lang="en" sz="2000">
                <a:solidFill>
                  <a:schemeClr val="lt1"/>
                </a:solidFill>
              </a:rPr>
              <a:t>The Setup</a:t>
            </a:r>
            <a:endParaRPr sz="2000">
              <a:solidFill>
                <a:schemeClr val="lt1"/>
              </a:solidFill>
            </a:endParaRPr>
          </a:p>
          <a:p>
            <a:pPr indent="-355600" lvl="0" marL="457200" rtl="0" algn="l">
              <a:spcBef>
                <a:spcPts val="0"/>
              </a:spcBef>
              <a:spcAft>
                <a:spcPts val="0"/>
              </a:spcAft>
              <a:buClr>
                <a:schemeClr val="lt1"/>
              </a:buClr>
              <a:buSzPts val="2000"/>
              <a:buChar char="-"/>
            </a:pPr>
            <a:r>
              <a:rPr lang="en" sz="2000">
                <a:solidFill>
                  <a:schemeClr val="lt1"/>
                </a:solidFill>
              </a:rPr>
              <a:t>Pasteur was studying chicken cholera. Important work. Serious science stuff.</a:t>
            </a:r>
            <a:endParaRPr sz="2000">
              <a:solidFill>
                <a:schemeClr val="lt1"/>
              </a:solidFill>
            </a:endParaRPr>
          </a:p>
          <a:p>
            <a:pPr indent="0" lvl="0" marL="0" rtl="0" algn="l">
              <a:spcBef>
                <a:spcPts val="0"/>
              </a:spcBef>
              <a:spcAft>
                <a:spcPts val="0"/>
              </a:spcAft>
              <a:buNone/>
            </a:pPr>
            <a:r>
              <a:t/>
            </a:r>
            <a:endParaRPr sz="2000">
              <a:solidFill>
                <a:schemeClr val="lt1"/>
              </a:solidFill>
            </a:endParaRPr>
          </a:p>
          <a:p>
            <a:pPr indent="0" lvl="0" marL="0" rtl="0" algn="l">
              <a:spcBef>
                <a:spcPts val="0"/>
              </a:spcBef>
              <a:spcAft>
                <a:spcPts val="0"/>
              </a:spcAft>
              <a:buNone/>
            </a:pPr>
            <a:r>
              <a:rPr lang="en" sz="2000">
                <a:solidFill>
                  <a:schemeClr val="lt1"/>
                </a:solidFill>
              </a:rPr>
              <a:t>The Vacation</a:t>
            </a:r>
            <a:endParaRPr sz="2000">
              <a:solidFill>
                <a:schemeClr val="lt1"/>
              </a:solidFill>
            </a:endParaRPr>
          </a:p>
          <a:p>
            <a:pPr indent="-355600" lvl="0" marL="457200" rtl="0" algn="l">
              <a:spcBef>
                <a:spcPts val="0"/>
              </a:spcBef>
              <a:spcAft>
                <a:spcPts val="0"/>
              </a:spcAft>
              <a:buClr>
                <a:schemeClr val="lt1"/>
              </a:buClr>
              <a:buSzPts val="2000"/>
              <a:buChar char="-"/>
            </a:pPr>
            <a:r>
              <a:rPr lang="en" sz="2000">
                <a:solidFill>
                  <a:schemeClr val="lt1"/>
                </a:solidFill>
              </a:rPr>
              <a:t>He went on holiday. Left his cultures sitting on the bench. Oops. procrastination achieved.</a:t>
            </a:r>
            <a:endParaRPr sz="2000">
              <a:solidFill>
                <a:schemeClr val="lt1"/>
              </a:solidFill>
            </a:endParaRPr>
          </a:p>
        </p:txBody>
      </p:sp>
      <p:pic>
        <p:nvPicPr>
          <p:cNvPr id="173" name="Google Shape;173;p28"/>
          <p:cNvPicPr preferRelativeResize="0"/>
          <p:nvPr/>
        </p:nvPicPr>
        <p:blipFill rotWithShape="1">
          <a:blip r:embed="rId3">
            <a:alphaModFix/>
          </a:blip>
          <a:srcRect b="4453" l="0" r="2515" t="0"/>
          <a:stretch/>
        </p:blipFill>
        <p:spPr>
          <a:xfrm>
            <a:off x="5794800" y="1063325"/>
            <a:ext cx="2884850" cy="38576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77" name="Shape 177"/>
        <p:cNvGrpSpPr/>
        <p:nvPr/>
      </p:nvGrpSpPr>
      <p:grpSpPr>
        <a:xfrm>
          <a:off x="0" y="0"/>
          <a:ext cx="0" cy="0"/>
          <a:chOff x="0" y="0"/>
          <a:chExt cx="0" cy="0"/>
        </a:xfrm>
      </p:grpSpPr>
      <p:sp>
        <p:nvSpPr>
          <p:cNvPr id="178" name="Google Shape;178;p2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020"/>
              <a:t>More Pasteur: Anthrax Vaccine</a:t>
            </a:r>
            <a:endParaRPr sz="3020"/>
          </a:p>
          <a:p>
            <a:pPr indent="0" lvl="0" marL="0" rtl="0" algn="l">
              <a:spcBef>
                <a:spcPts val="0"/>
              </a:spcBef>
              <a:spcAft>
                <a:spcPts val="0"/>
              </a:spcAft>
              <a:buSzPts val="990"/>
              <a:buNone/>
            </a:pPr>
            <a:r>
              <a:t/>
            </a:r>
            <a:endParaRPr sz="3020"/>
          </a:p>
        </p:txBody>
      </p:sp>
      <p:sp>
        <p:nvSpPr>
          <p:cNvPr id="179" name="Google Shape;179;p29"/>
          <p:cNvSpPr txBox="1"/>
          <p:nvPr/>
        </p:nvSpPr>
        <p:spPr>
          <a:xfrm>
            <a:off x="311701" y="1970025"/>
            <a:ext cx="29607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solidFill>
                  <a:schemeClr val="lt1"/>
                </a:solidFill>
                <a:latin typeface="Georgia"/>
                <a:ea typeface="Georgia"/>
                <a:cs typeface="Georgia"/>
                <a:sym typeface="Georgia"/>
              </a:rPr>
              <a:t>1881 - Successful Demonstration of Anthrax vaccine</a:t>
            </a:r>
            <a:endParaRPr sz="2000">
              <a:solidFill>
                <a:schemeClr val="lt1"/>
              </a:solidFill>
              <a:latin typeface="Georgia"/>
              <a:ea typeface="Georgia"/>
              <a:cs typeface="Georgia"/>
              <a:sym typeface="Georgia"/>
            </a:endParaRPr>
          </a:p>
        </p:txBody>
      </p:sp>
      <p:pic>
        <p:nvPicPr>
          <p:cNvPr id="180" name="Google Shape;180;p29"/>
          <p:cNvPicPr preferRelativeResize="0"/>
          <p:nvPr/>
        </p:nvPicPr>
        <p:blipFill>
          <a:blip r:embed="rId3">
            <a:alphaModFix/>
          </a:blip>
          <a:stretch>
            <a:fillRect/>
          </a:stretch>
        </p:blipFill>
        <p:spPr>
          <a:xfrm>
            <a:off x="3272397" y="1116625"/>
            <a:ext cx="5649424" cy="376627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84" name="Shape 184"/>
        <p:cNvGrpSpPr/>
        <p:nvPr/>
      </p:nvGrpSpPr>
      <p:grpSpPr>
        <a:xfrm>
          <a:off x="0" y="0"/>
          <a:ext cx="0" cy="0"/>
          <a:chOff x="0" y="0"/>
          <a:chExt cx="0" cy="0"/>
        </a:xfrm>
      </p:grpSpPr>
      <p:sp>
        <p:nvSpPr>
          <p:cNvPr id="185" name="Google Shape;185;p3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020"/>
              <a:t>More Pasteur: Rabies Vaccine</a:t>
            </a:r>
            <a:endParaRPr sz="3020"/>
          </a:p>
          <a:p>
            <a:pPr indent="0" lvl="0" marL="0" rtl="0" algn="l">
              <a:spcBef>
                <a:spcPts val="0"/>
              </a:spcBef>
              <a:spcAft>
                <a:spcPts val="0"/>
              </a:spcAft>
              <a:buSzPts val="990"/>
              <a:buNone/>
            </a:pPr>
            <a:r>
              <a:t/>
            </a:r>
            <a:endParaRPr sz="3020"/>
          </a:p>
          <a:p>
            <a:pPr indent="0" lvl="0" marL="0" rtl="0" algn="l">
              <a:spcBef>
                <a:spcPts val="0"/>
              </a:spcBef>
              <a:spcAft>
                <a:spcPts val="0"/>
              </a:spcAft>
              <a:buSzPts val="990"/>
              <a:buNone/>
            </a:pPr>
            <a:r>
              <a:t/>
            </a:r>
            <a:endParaRPr sz="3020"/>
          </a:p>
        </p:txBody>
      </p:sp>
      <p:sp>
        <p:nvSpPr>
          <p:cNvPr id="186" name="Google Shape;186;p30"/>
          <p:cNvSpPr txBox="1"/>
          <p:nvPr/>
        </p:nvSpPr>
        <p:spPr>
          <a:xfrm>
            <a:off x="311704" y="1796930"/>
            <a:ext cx="8721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solidFill>
                  <a:schemeClr val="lt1"/>
                </a:solidFill>
                <a:latin typeface="Georgia"/>
                <a:ea typeface="Georgia"/>
                <a:cs typeface="Georgia"/>
                <a:sym typeface="Georgia"/>
              </a:rPr>
              <a:t>1885 - Successful Demonstration of Rabies vaccine</a:t>
            </a:r>
            <a:endParaRPr sz="2000">
              <a:solidFill>
                <a:schemeClr val="lt1"/>
              </a:solidFill>
              <a:latin typeface="Georgia"/>
              <a:ea typeface="Georgia"/>
              <a:cs typeface="Georgia"/>
              <a:sym typeface="Georgia"/>
            </a:endParaRPr>
          </a:p>
        </p:txBody>
      </p:sp>
      <p:sp>
        <p:nvSpPr>
          <p:cNvPr id="187" name="Google Shape;187;p30"/>
          <p:cNvSpPr txBox="1"/>
          <p:nvPr/>
        </p:nvSpPr>
        <p:spPr>
          <a:xfrm>
            <a:off x="311704" y="3068730"/>
            <a:ext cx="8721000" cy="141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2000">
                <a:solidFill>
                  <a:schemeClr val="lt1"/>
                </a:solidFill>
                <a:latin typeface="Georgia"/>
                <a:ea typeface="Georgia"/>
                <a:cs typeface="Georgia"/>
                <a:sym typeface="Georgia"/>
              </a:rPr>
              <a:t>"The child's death appeared inevitable. I decided not without acute and harrowing anxiety, as may be imagined, to apply to Joseph Meister the method which I had found consistently successful with dogs" </a:t>
            </a:r>
            <a:r>
              <a:rPr lang="en" sz="2000">
                <a:solidFill>
                  <a:schemeClr val="lt1"/>
                </a:solidFill>
                <a:latin typeface="Georgia"/>
                <a:ea typeface="Georgia"/>
                <a:cs typeface="Georgia"/>
                <a:sym typeface="Georgia"/>
              </a:rPr>
              <a:t> - Louis Pasteur 1885</a:t>
            </a:r>
            <a:endParaRPr sz="2000">
              <a:solidFill>
                <a:schemeClr val="lt1"/>
              </a:solidFill>
              <a:latin typeface="Georgia"/>
              <a:ea typeface="Georgia"/>
              <a:cs typeface="Georgia"/>
              <a:sym typeface="Georgia"/>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91" name="Shape 191"/>
        <p:cNvGrpSpPr/>
        <p:nvPr/>
      </p:nvGrpSpPr>
      <p:grpSpPr>
        <a:xfrm>
          <a:off x="0" y="0"/>
          <a:ext cx="0" cy="0"/>
          <a:chOff x="0" y="0"/>
          <a:chExt cx="0" cy="0"/>
        </a:xfrm>
      </p:grpSpPr>
      <p:sp>
        <p:nvSpPr>
          <p:cNvPr id="192" name="Google Shape;192;p3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020"/>
              <a:t>More Pasteur: That Time Vacation Created Vaccines</a:t>
            </a:r>
            <a:endParaRPr sz="3020"/>
          </a:p>
          <a:p>
            <a:pPr indent="0" lvl="0" marL="0" rtl="0" algn="l">
              <a:spcBef>
                <a:spcPts val="0"/>
              </a:spcBef>
              <a:spcAft>
                <a:spcPts val="0"/>
              </a:spcAft>
              <a:buSzPts val="990"/>
              <a:buNone/>
            </a:pPr>
            <a:r>
              <a:t/>
            </a:r>
            <a:endParaRPr sz="3020"/>
          </a:p>
          <a:p>
            <a:pPr indent="0" lvl="0" marL="0" rtl="0" algn="l">
              <a:spcBef>
                <a:spcPts val="0"/>
              </a:spcBef>
              <a:spcAft>
                <a:spcPts val="0"/>
              </a:spcAft>
              <a:buSzPts val="990"/>
              <a:buNone/>
            </a:pPr>
            <a:r>
              <a:t/>
            </a:r>
            <a:endParaRPr sz="3020"/>
          </a:p>
        </p:txBody>
      </p:sp>
      <p:sp>
        <p:nvSpPr>
          <p:cNvPr id="193" name="Google Shape;193;p31"/>
          <p:cNvSpPr txBox="1"/>
          <p:nvPr/>
        </p:nvSpPr>
        <p:spPr>
          <a:xfrm>
            <a:off x="311700" y="1796925"/>
            <a:ext cx="5153400" cy="2955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solidFill>
                  <a:schemeClr val="lt1"/>
                </a:solidFill>
                <a:latin typeface="Georgia"/>
                <a:ea typeface="Georgia"/>
                <a:cs typeface="Georgia"/>
                <a:sym typeface="Georgia"/>
              </a:rPr>
              <a:t>The Return</a:t>
            </a:r>
            <a:endParaRPr sz="2000">
              <a:solidFill>
                <a:schemeClr val="lt1"/>
              </a:solidFill>
              <a:latin typeface="Georgia"/>
              <a:ea typeface="Georgia"/>
              <a:cs typeface="Georgia"/>
              <a:sym typeface="Georgia"/>
            </a:endParaRPr>
          </a:p>
          <a:p>
            <a:pPr indent="-355600" lvl="0" marL="457200" rtl="0" algn="l">
              <a:spcBef>
                <a:spcPts val="0"/>
              </a:spcBef>
              <a:spcAft>
                <a:spcPts val="0"/>
              </a:spcAft>
              <a:buClr>
                <a:schemeClr val="lt1"/>
              </a:buClr>
              <a:buSzPts val="2000"/>
              <a:buFont typeface="Georgia"/>
              <a:buChar char="-"/>
            </a:pPr>
            <a:r>
              <a:rPr lang="en" sz="2000">
                <a:solidFill>
                  <a:schemeClr val="lt1"/>
                </a:solidFill>
                <a:latin typeface="Georgia"/>
                <a:ea typeface="Georgia"/>
                <a:cs typeface="Georgia"/>
                <a:sym typeface="Georgia"/>
              </a:rPr>
              <a:t>Came back to weakened bacteria. Injected chickens anyway because why waste good cultures?</a:t>
            </a:r>
            <a:endParaRPr sz="2000">
              <a:solidFill>
                <a:schemeClr val="lt1"/>
              </a:solidFill>
              <a:latin typeface="Georgia"/>
              <a:ea typeface="Georgia"/>
              <a:cs typeface="Georgia"/>
              <a:sym typeface="Georgia"/>
            </a:endParaRPr>
          </a:p>
          <a:p>
            <a:pPr indent="0" lvl="0" marL="0" rtl="0" algn="l">
              <a:spcBef>
                <a:spcPts val="0"/>
              </a:spcBef>
              <a:spcAft>
                <a:spcPts val="0"/>
              </a:spcAft>
              <a:buNone/>
            </a:pPr>
            <a:r>
              <a:t/>
            </a:r>
            <a:endParaRPr sz="2000">
              <a:solidFill>
                <a:schemeClr val="lt1"/>
              </a:solidFill>
              <a:latin typeface="Georgia"/>
              <a:ea typeface="Georgia"/>
              <a:cs typeface="Georgia"/>
              <a:sym typeface="Georgia"/>
            </a:endParaRPr>
          </a:p>
          <a:p>
            <a:pPr indent="0" lvl="0" marL="0" rtl="0" algn="l">
              <a:spcBef>
                <a:spcPts val="0"/>
              </a:spcBef>
              <a:spcAft>
                <a:spcPts val="0"/>
              </a:spcAft>
              <a:buNone/>
            </a:pPr>
            <a:r>
              <a:rPr lang="en" sz="2000">
                <a:solidFill>
                  <a:schemeClr val="lt1"/>
                </a:solidFill>
                <a:latin typeface="Georgia"/>
                <a:ea typeface="Georgia"/>
                <a:cs typeface="Georgia"/>
                <a:sym typeface="Georgia"/>
              </a:rPr>
              <a:t>The Miracle</a:t>
            </a:r>
            <a:endParaRPr sz="2000">
              <a:solidFill>
                <a:schemeClr val="lt1"/>
              </a:solidFill>
              <a:latin typeface="Georgia"/>
              <a:ea typeface="Georgia"/>
              <a:cs typeface="Georgia"/>
              <a:sym typeface="Georgia"/>
            </a:endParaRPr>
          </a:p>
          <a:p>
            <a:pPr indent="-355600" lvl="0" marL="457200" rtl="0" algn="l">
              <a:spcBef>
                <a:spcPts val="0"/>
              </a:spcBef>
              <a:spcAft>
                <a:spcPts val="0"/>
              </a:spcAft>
              <a:buClr>
                <a:schemeClr val="lt1"/>
              </a:buClr>
              <a:buSzPts val="2000"/>
              <a:buFont typeface="Georgia"/>
              <a:buChar char="-"/>
            </a:pPr>
            <a:r>
              <a:rPr lang="en" sz="2000">
                <a:solidFill>
                  <a:schemeClr val="lt1"/>
                </a:solidFill>
                <a:latin typeface="Georgia"/>
                <a:ea typeface="Georgia"/>
                <a:cs typeface="Georgia"/>
                <a:sym typeface="Georgia"/>
              </a:rPr>
              <a:t>The chickens didn't die. They became IMMUNE. First vaccine by procrastination achieved.</a:t>
            </a:r>
            <a:endParaRPr sz="2000">
              <a:solidFill>
                <a:schemeClr val="lt1"/>
              </a:solidFill>
              <a:latin typeface="Georgia"/>
              <a:ea typeface="Georgia"/>
              <a:cs typeface="Georgia"/>
              <a:sym typeface="Georgia"/>
            </a:endParaRPr>
          </a:p>
        </p:txBody>
      </p:sp>
      <p:pic>
        <p:nvPicPr>
          <p:cNvPr id="194" name="Google Shape;194;p31"/>
          <p:cNvPicPr preferRelativeResize="0"/>
          <p:nvPr/>
        </p:nvPicPr>
        <p:blipFill>
          <a:blip r:embed="rId3">
            <a:alphaModFix/>
          </a:blip>
          <a:stretch>
            <a:fillRect/>
          </a:stretch>
        </p:blipFill>
        <p:spPr>
          <a:xfrm>
            <a:off x="5510325" y="1137498"/>
            <a:ext cx="3374100" cy="37257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